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1" r:id="rId4"/>
    <p:sldId id="287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91" r:id="rId13"/>
    <p:sldId id="289" r:id="rId14"/>
    <p:sldId id="282" r:id="rId15"/>
    <p:sldId id="290" r:id="rId16"/>
    <p:sldId id="286" r:id="rId17"/>
  </p:sldIdLst>
  <p:sldSz cx="12192000" cy="6858000"/>
  <p:notesSz cx="6858000" cy="9144000"/>
  <p:custDataLst>
    <p:tags r:id="rId19"/>
  </p:custDataLst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CC"/>
    <a:srgbClr val="0066CC"/>
    <a:srgbClr val="0055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012" autoAdjust="0"/>
  </p:normalViewPr>
  <p:slideViewPr>
    <p:cSldViewPr>
      <p:cViewPr varScale="1">
        <p:scale>
          <a:sx n="65" d="100"/>
          <a:sy n="65" d="100"/>
        </p:scale>
        <p:origin x="912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image" Target="../media/image3.jpg"/><Relationship Id="rId4" Type="http://schemas.openxmlformats.org/officeDocument/2006/relationships/image" Target="../media/image6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image" Target="../media/image3.jpg"/><Relationship Id="rId4" Type="http://schemas.openxmlformats.org/officeDocument/2006/relationships/image" Target="../media/image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24446A6-C5A8-402C-9F91-AD96DECE5C42}" type="doc">
      <dgm:prSet loTypeId="urn:microsoft.com/office/officeart/2005/8/layout/vList6" loCatId="list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s-CO"/>
        </a:p>
      </dgm:t>
    </dgm:pt>
    <dgm:pt modelId="{734B7D28-1937-424D-95E6-C8BFF7404F2B}">
      <dgm:prSet phldrT="[Texto]" custT="1"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s-CO" sz="40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rPr>
            <a:t>Clases</a:t>
          </a:r>
        </a:p>
      </dgm:t>
    </dgm:pt>
    <dgm:pt modelId="{D8B1CC6A-AA87-427C-BA18-9C3067929FBD}" type="parTrans" cxnId="{EA4E75E4-D9CC-45EA-98A5-926D29F0275A}">
      <dgm:prSet/>
      <dgm:spPr/>
      <dgm:t>
        <a:bodyPr/>
        <a:lstStyle/>
        <a:p>
          <a:endParaRPr lang="es-CO">
            <a:solidFill>
              <a:srgbClr val="002060"/>
            </a:solidFill>
          </a:endParaRPr>
        </a:p>
      </dgm:t>
    </dgm:pt>
    <dgm:pt modelId="{303DDAB8-DFB0-4BE8-9082-E8E6C5C833E4}" type="sibTrans" cxnId="{EA4E75E4-D9CC-45EA-98A5-926D29F0275A}">
      <dgm:prSet/>
      <dgm:spPr/>
      <dgm:t>
        <a:bodyPr/>
        <a:lstStyle/>
        <a:p>
          <a:endParaRPr lang="es-CO">
            <a:solidFill>
              <a:srgbClr val="002060"/>
            </a:solidFill>
          </a:endParaRPr>
        </a:p>
      </dgm:t>
    </dgm:pt>
    <dgm:pt modelId="{84BD6148-7CA1-42B2-8B40-1AE509984031}">
      <dgm:prSet phldrT="[Texto]" custT="1"/>
      <dgm:spPr>
        <a:solidFill>
          <a:schemeClr val="tx2">
            <a:lumMod val="20000"/>
            <a:lumOff val="80000"/>
            <a:alpha val="90000"/>
          </a:schemeClr>
        </a:solidFill>
      </dgm:spPr>
      <dgm:t>
        <a:bodyPr/>
        <a:lstStyle/>
        <a:p>
          <a:pPr marL="263525" indent="-171450">
            <a:lnSpc>
              <a:spcPct val="100000"/>
            </a:lnSpc>
            <a:spcAft>
              <a:spcPts val="1200"/>
            </a:spcAft>
          </a:pPr>
          <a:r>
            <a:rPr lang="es-CO" sz="32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s-CO" sz="30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rPr>
            <a:t>2 sesiones de dos horas cada una. </a:t>
          </a:r>
        </a:p>
      </dgm:t>
    </dgm:pt>
    <dgm:pt modelId="{E7AC71E3-DE94-444C-B917-586ECFFE157E}" type="parTrans" cxnId="{07B93DA1-59A8-4FD4-AF7C-5E1DC2572BFD}">
      <dgm:prSet/>
      <dgm:spPr/>
      <dgm:t>
        <a:bodyPr/>
        <a:lstStyle/>
        <a:p>
          <a:endParaRPr lang="es-CO">
            <a:solidFill>
              <a:srgbClr val="002060"/>
            </a:solidFill>
          </a:endParaRPr>
        </a:p>
      </dgm:t>
    </dgm:pt>
    <dgm:pt modelId="{8A78A95F-2782-49DE-A966-57BA68AB8470}" type="sibTrans" cxnId="{07B93DA1-59A8-4FD4-AF7C-5E1DC2572BFD}">
      <dgm:prSet/>
      <dgm:spPr/>
      <dgm:t>
        <a:bodyPr/>
        <a:lstStyle/>
        <a:p>
          <a:endParaRPr lang="es-CO">
            <a:solidFill>
              <a:srgbClr val="002060"/>
            </a:solidFill>
          </a:endParaRPr>
        </a:p>
      </dgm:t>
    </dgm:pt>
    <dgm:pt modelId="{60628E99-19B0-4C32-8300-7EA141D2A5C3}">
      <dgm:prSet phldrT="[Texto]" custT="1"/>
      <dgm:spPr>
        <a:solidFill>
          <a:schemeClr val="tx2">
            <a:lumMod val="20000"/>
            <a:lumOff val="80000"/>
            <a:alpha val="90000"/>
          </a:schemeClr>
        </a:solidFill>
      </dgm:spPr>
      <dgm:t>
        <a:bodyPr/>
        <a:lstStyle/>
        <a:p>
          <a:pPr marL="263525" indent="-171450">
            <a:lnSpc>
              <a:spcPct val="100000"/>
            </a:lnSpc>
            <a:spcAft>
              <a:spcPts val="1200"/>
            </a:spcAft>
          </a:pPr>
          <a:r>
            <a:rPr lang="es-CO" sz="30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rPr>
            <a:t> Evaluación:</a:t>
          </a:r>
        </a:p>
      </dgm:t>
    </dgm:pt>
    <dgm:pt modelId="{DC5A5CD6-01AF-4483-A207-B4797F1B890A}" type="parTrans" cxnId="{3C68E847-FEBD-47EC-8C8C-3D211C1A4425}">
      <dgm:prSet/>
      <dgm:spPr/>
      <dgm:t>
        <a:bodyPr/>
        <a:lstStyle/>
        <a:p>
          <a:endParaRPr lang="es-CO">
            <a:solidFill>
              <a:srgbClr val="002060"/>
            </a:solidFill>
          </a:endParaRPr>
        </a:p>
      </dgm:t>
    </dgm:pt>
    <dgm:pt modelId="{798632C1-D4A3-4C51-AC69-F247A2B75B66}" type="sibTrans" cxnId="{3C68E847-FEBD-47EC-8C8C-3D211C1A4425}">
      <dgm:prSet/>
      <dgm:spPr/>
      <dgm:t>
        <a:bodyPr/>
        <a:lstStyle/>
        <a:p>
          <a:endParaRPr lang="es-CO">
            <a:solidFill>
              <a:srgbClr val="002060"/>
            </a:solidFill>
          </a:endParaRPr>
        </a:p>
      </dgm:t>
    </dgm:pt>
    <dgm:pt modelId="{4B8CBC37-1601-4836-AFBB-0C3BC0C07520}">
      <dgm:prSet phldrT="[Texto]" custT="1"/>
      <dgm:spPr>
        <a:solidFill>
          <a:schemeClr val="tx2">
            <a:lumMod val="20000"/>
            <a:lumOff val="80000"/>
            <a:alpha val="90000"/>
          </a:schemeClr>
        </a:solidFill>
      </dgm:spPr>
      <dgm:t>
        <a:bodyPr/>
        <a:lstStyle/>
        <a:p>
          <a:pPr marL="628650" indent="-274638">
            <a:lnSpc>
              <a:spcPct val="100000"/>
            </a:lnSpc>
            <a:spcAft>
              <a:spcPts val="1200"/>
            </a:spcAft>
          </a:pPr>
          <a:r>
            <a:rPr lang="es-CO" sz="30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rPr>
            <a:t>Talleres-Evaluaciones AVATA 20%</a:t>
          </a:r>
        </a:p>
      </dgm:t>
    </dgm:pt>
    <dgm:pt modelId="{0206BDED-60C6-47B2-8DDE-CEC3861A57F0}" type="parTrans" cxnId="{01A112CE-9EFF-499A-99DD-56899A71FB06}">
      <dgm:prSet/>
      <dgm:spPr/>
      <dgm:t>
        <a:bodyPr/>
        <a:lstStyle/>
        <a:p>
          <a:endParaRPr lang="es-ES">
            <a:solidFill>
              <a:srgbClr val="002060"/>
            </a:solidFill>
          </a:endParaRPr>
        </a:p>
      </dgm:t>
    </dgm:pt>
    <dgm:pt modelId="{442C6269-FEE3-4FE8-BE69-D0762E5FC773}" type="sibTrans" cxnId="{01A112CE-9EFF-499A-99DD-56899A71FB06}">
      <dgm:prSet/>
      <dgm:spPr/>
      <dgm:t>
        <a:bodyPr/>
        <a:lstStyle/>
        <a:p>
          <a:endParaRPr lang="es-ES">
            <a:solidFill>
              <a:srgbClr val="002060"/>
            </a:solidFill>
          </a:endParaRPr>
        </a:p>
      </dgm:t>
    </dgm:pt>
    <dgm:pt modelId="{2AC1DAD6-3F2B-4B34-B620-6A0706CE6BF3}">
      <dgm:prSet phldrT="[Texto]" custT="1"/>
      <dgm:spPr>
        <a:solidFill>
          <a:schemeClr val="tx2">
            <a:lumMod val="20000"/>
            <a:lumOff val="80000"/>
            <a:alpha val="90000"/>
          </a:schemeClr>
        </a:solidFill>
      </dgm:spPr>
      <dgm:t>
        <a:bodyPr/>
        <a:lstStyle/>
        <a:p>
          <a:pPr marL="628650" indent="-274638">
            <a:lnSpc>
              <a:spcPct val="100000"/>
            </a:lnSpc>
            <a:spcAft>
              <a:spcPts val="1200"/>
            </a:spcAft>
          </a:pPr>
          <a:r>
            <a:rPr lang="es-CO" sz="30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rPr>
            <a:t>Quiz 20%</a:t>
          </a:r>
        </a:p>
      </dgm:t>
    </dgm:pt>
    <dgm:pt modelId="{952982DD-C60D-4E37-8A0C-995429634050}" type="parTrans" cxnId="{CE73DF2B-04BF-41FE-8F6F-F0F2D0179310}">
      <dgm:prSet/>
      <dgm:spPr/>
      <dgm:t>
        <a:bodyPr/>
        <a:lstStyle/>
        <a:p>
          <a:endParaRPr lang="es-ES">
            <a:solidFill>
              <a:srgbClr val="002060"/>
            </a:solidFill>
          </a:endParaRPr>
        </a:p>
      </dgm:t>
    </dgm:pt>
    <dgm:pt modelId="{E4F3777B-770D-4394-B457-B84CD6EFEBD1}" type="sibTrans" cxnId="{CE73DF2B-04BF-41FE-8F6F-F0F2D0179310}">
      <dgm:prSet/>
      <dgm:spPr/>
      <dgm:t>
        <a:bodyPr/>
        <a:lstStyle/>
        <a:p>
          <a:endParaRPr lang="es-ES">
            <a:solidFill>
              <a:srgbClr val="002060"/>
            </a:solidFill>
          </a:endParaRPr>
        </a:p>
      </dgm:t>
    </dgm:pt>
    <dgm:pt modelId="{19E10303-1039-4419-A49C-263BED144363}">
      <dgm:prSet phldrT="[Texto]" custT="1"/>
      <dgm:spPr>
        <a:solidFill>
          <a:schemeClr val="tx2">
            <a:lumMod val="20000"/>
            <a:lumOff val="80000"/>
            <a:alpha val="90000"/>
          </a:schemeClr>
        </a:solidFill>
      </dgm:spPr>
      <dgm:t>
        <a:bodyPr/>
        <a:lstStyle/>
        <a:p>
          <a:pPr marL="628650" indent="-274638">
            <a:lnSpc>
              <a:spcPct val="100000"/>
            </a:lnSpc>
            <a:spcAft>
              <a:spcPts val="1200"/>
            </a:spcAft>
          </a:pPr>
          <a:r>
            <a:rPr lang="es-CO" sz="30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rPr>
            <a:t>Parcial 40%</a:t>
          </a:r>
        </a:p>
      </dgm:t>
    </dgm:pt>
    <dgm:pt modelId="{DE453F80-AC16-408A-88BD-8BCD49CEAA75}" type="sibTrans" cxnId="{E7BCC5C7-177F-4A94-BED8-A26B0BF1C8A0}">
      <dgm:prSet/>
      <dgm:spPr/>
      <dgm:t>
        <a:bodyPr/>
        <a:lstStyle/>
        <a:p>
          <a:endParaRPr lang="es-ES">
            <a:solidFill>
              <a:srgbClr val="002060"/>
            </a:solidFill>
          </a:endParaRPr>
        </a:p>
      </dgm:t>
    </dgm:pt>
    <dgm:pt modelId="{6D264629-1810-4775-9DC5-9C2EF08F6877}" type="parTrans" cxnId="{E7BCC5C7-177F-4A94-BED8-A26B0BF1C8A0}">
      <dgm:prSet/>
      <dgm:spPr/>
      <dgm:t>
        <a:bodyPr/>
        <a:lstStyle/>
        <a:p>
          <a:endParaRPr lang="es-ES">
            <a:solidFill>
              <a:srgbClr val="002060"/>
            </a:solidFill>
          </a:endParaRPr>
        </a:p>
      </dgm:t>
    </dgm:pt>
    <dgm:pt modelId="{65C65204-73EC-4C92-9268-B812C9D167CD}">
      <dgm:prSet phldrT="[Texto]" custT="1"/>
      <dgm:spPr>
        <a:solidFill>
          <a:schemeClr val="tx2">
            <a:lumMod val="20000"/>
            <a:lumOff val="80000"/>
            <a:alpha val="90000"/>
          </a:schemeClr>
        </a:solidFill>
      </dgm:spPr>
      <dgm:t>
        <a:bodyPr/>
        <a:lstStyle/>
        <a:p>
          <a:pPr marL="628650" indent="-274638">
            <a:lnSpc>
              <a:spcPct val="100000"/>
            </a:lnSpc>
            <a:spcAft>
              <a:spcPct val="15000"/>
            </a:spcAft>
          </a:pPr>
          <a:r>
            <a:rPr lang="es-CO" sz="30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rPr>
            <a:t>Khan </a:t>
          </a:r>
          <a:r>
            <a:rPr lang="es-CO" sz="3000" dirty="0" err="1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rPr>
            <a:t>Academy</a:t>
          </a:r>
          <a:r>
            <a:rPr lang="es-CO" sz="30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rPr>
            <a:t> 20%</a:t>
          </a:r>
        </a:p>
      </dgm:t>
    </dgm:pt>
    <dgm:pt modelId="{BA85D0B1-C41F-4AE7-8BFF-7490D9E8B808}" type="parTrans" cxnId="{34AC0FA4-79B1-4C58-8450-F4E50D063676}">
      <dgm:prSet/>
      <dgm:spPr/>
      <dgm:t>
        <a:bodyPr/>
        <a:lstStyle/>
        <a:p>
          <a:endParaRPr lang="es-CO">
            <a:solidFill>
              <a:srgbClr val="002060"/>
            </a:solidFill>
          </a:endParaRPr>
        </a:p>
      </dgm:t>
    </dgm:pt>
    <dgm:pt modelId="{15B11CB8-44BA-4153-A558-DA40B4141771}" type="sibTrans" cxnId="{34AC0FA4-79B1-4C58-8450-F4E50D063676}">
      <dgm:prSet/>
      <dgm:spPr/>
      <dgm:t>
        <a:bodyPr/>
        <a:lstStyle/>
        <a:p>
          <a:endParaRPr lang="es-CO">
            <a:solidFill>
              <a:srgbClr val="002060"/>
            </a:solidFill>
          </a:endParaRPr>
        </a:p>
      </dgm:t>
    </dgm:pt>
    <dgm:pt modelId="{34AF14F5-0487-4E24-97CA-0F04BB18DE2D}" type="pres">
      <dgm:prSet presAssocID="{624446A6-C5A8-402C-9F91-AD96DECE5C42}" presName="Name0" presStyleCnt="0">
        <dgm:presLayoutVars>
          <dgm:dir/>
          <dgm:animLvl val="lvl"/>
          <dgm:resizeHandles/>
        </dgm:presLayoutVars>
      </dgm:prSet>
      <dgm:spPr/>
    </dgm:pt>
    <dgm:pt modelId="{F78B06C9-2C38-427E-881C-33DE10F2A31F}" type="pres">
      <dgm:prSet presAssocID="{734B7D28-1937-424D-95E6-C8BFF7404F2B}" presName="linNode" presStyleCnt="0"/>
      <dgm:spPr/>
    </dgm:pt>
    <dgm:pt modelId="{15AE3343-129E-427A-848F-8980FEB4F932}" type="pres">
      <dgm:prSet presAssocID="{734B7D28-1937-424D-95E6-C8BFF7404F2B}" presName="parentShp" presStyleLbl="node1" presStyleIdx="0" presStyleCnt="1" custScaleX="60898" custScaleY="43279" custLinFactNeighborX="-278" custLinFactNeighborY="-2682">
        <dgm:presLayoutVars>
          <dgm:bulletEnabled val="1"/>
        </dgm:presLayoutVars>
      </dgm:prSet>
      <dgm:spPr/>
    </dgm:pt>
    <dgm:pt modelId="{8C8A6EE3-DBF3-4447-A02E-A2261133C5B6}" type="pres">
      <dgm:prSet presAssocID="{734B7D28-1937-424D-95E6-C8BFF7404F2B}" presName="childShp" presStyleLbl="bgAccFollowNode1" presStyleIdx="0" presStyleCnt="1" custScaleX="177744" custScaleY="100098" custLinFactNeighborX="21" custLinFactNeighborY="-109">
        <dgm:presLayoutVars>
          <dgm:bulletEnabled val="1"/>
        </dgm:presLayoutVars>
      </dgm:prSet>
      <dgm:spPr/>
    </dgm:pt>
  </dgm:ptLst>
  <dgm:cxnLst>
    <dgm:cxn modelId="{797DCD16-005A-4E3B-BB81-C2D1E4B4D4E4}" type="presOf" srcId="{4B8CBC37-1601-4836-AFBB-0C3BC0C07520}" destId="{8C8A6EE3-DBF3-4447-A02E-A2261133C5B6}" srcOrd="0" destOrd="4" presId="urn:microsoft.com/office/officeart/2005/8/layout/vList6"/>
    <dgm:cxn modelId="{CE73DF2B-04BF-41FE-8F6F-F0F2D0179310}" srcId="{734B7D28-1937-424D-95E6-C8BFF7404F2B}" destId="{2AC1DAD6-3F2B-4B34-B620-6A0706CE6BF3}" srcOrd="3" destOrd="0" parTransId="{952982DD-C60D-4E37-8A0C-995429634050}" sibTransId="{E4F3777B-770D-4394-B457-B84CD6EFEBD1}"/>
    <dgm:cxn modelId="{3C68E847-FEBD-47EC-8C8C-3D211C1A4425}" srcId="{734B7D28-1937-424D-95E6-C8BFF7404F2B}" destId="{60628E99-19B0-4C32-8300-7EA141D2A5C3}" srcOrd="1" destOrd="0" parTransId="{DC5A5CD6-01AF-4483-A207-B4797F1B890A}" sibTransId="{798632C1-D4A3-4C51-AC69-F247A2B75B66}"/>
    <dgm:cxn modelId="{81484750-1D92-42D0-81CA-A749347FE933}" type="presOf" srcId="{2AC1DAD6-3F2B-4B34-B620-6A0706CE6BF3}" destId="{8C8A6EE3-DBF3-4447-A02E-A2261133C5B6}" srcOrd="0" destOrd="3" presId="urn:microsoft.com/office/officeart/2005/8/layout/vList6"/>
    <dgm:cxn modelId="{981DB954-4B30-4E96-BFBE-C24A4D6506CC}" type="presOf" srcId="{624446A6-C5A8-402C-9F91-AD96DECE5C42}" destId="{34AF14F5-0487-4E24-97CA-0F04BB18DE2D}" srcOrd="0" destOrd="0" presId="urn:microsoft.com/office/officeart/2005/8/layout/vList6"/>
    <dgm:cxn modelId="{0E199577-1DB6-407E-9CA0-66DF9ED63E0C}" type="presOf" srcId="{65C65204-73EC-4C92-9268-B812C9D167CD}" destId="{8C8A6EE3-DBF3-4447-A02E-A2261133C5B6}" srcOrd="0" destOrd="5" presId="urn:microsoft.com/office/officeart/2005/8/layout/vList6"/>
    <dgm:cxn modelId="{90B67F8A-9D1C-4327-8703-5BC691E0B319}" type="presOf" srcId="{734B7D28-1937-424D-95E6-C8BFF7404F2B}" destId="{15AE3343-129E-427A-848F-8980FEB4F932}" srcOrd="0" destOrd="0" presId="urn:microsoft.com/office/officeart/2005/8/layout/vList6"/>
    <dgm:cxn modelId="{07B93DA1-59A8-4FD4-AF7C-5E1DC2572BFD}" srcId="{734B7D28-1937-424D-95E6-C8BFF7404F2B}" destId="{84BD6148-7CA1-42B2-8B40-1AE509984031}" srcOrd="0" destOrd="0" parTransId="{E7AC71E3-DE94-444C-B917-586ECFFE157E}" sibTransId="{8A78A95F-2782-49DE-A966-57BA68AB8470}"/>
    <dgm:cxn modelId="{34AC0FA4-79B1-4C58-8450-F4E50D063676}" srcId="{734B7D28-1937-424D-95E6-C8BFF7404F2B}" destId="{65C65204-73EC-4C92-9268-B812C9D167CD}" srcOrd="5" destOrd="0" parTransId="{BA85D0B1-C41F-4AE7-8BFF-7490D9E8B808}" sibTransId="{15B11CB8-44BA-4153-A558-DA40B4141771}"/>
    <dgm:cxn modelId="{32981BB9-2E3A-4CBB-B3FD-98586653DF98}" type="presOf" srcId="{19E10303-1039-4419-A49C-263BED144363}" destId="{8C8A6EE3-DBF3-4447-A02E-A2261133C5B6}" srcOrd="0" destOrd="2" presId="urn:microsoft.com/office/officeart/2005/8/layout/vList6"/>
    <dgm:cxn modelId="{E7BCC5C7-177F-4A94-BED8-A26B0BF1C8A0}" srcId="{734B7D28-1937-424D-95E6-C8BFF7404F2B}" destId="{19E10303-1039-4419-A49C-263BED144363}" srcOrd="2" destOrd="0" parTransId="{6D264629-1810-4775-9DC5-9C2EF08F6877}" sibTransId="{DE453F80-AC16-408A-88BD-8BCD49CEAA75}"/>
    <dgm:cxn modelId="{01A112CE-9EFF-499A-99DD-56899A71FB06}" srcId="{734B7D28-1937-424D-95E6-C8BFF7404F2B}" destId="{4B8CBC37-1601-4836-AFBB-0C3BC0C07520}" srcOrd="4" destOrd="0" parTransId="{0206BDED-60C6-47B2-8DDE-CEC3861A57F0}" sibTransId="{442C6269-FEE3-4FE8-BE69-D0762E5FC773}"/>
    <dgm:cxn modelId="{EA4E75E4-D9CC-45EA-98A5-926D29F0275A}" srcId="{624446A6-C5A8-402C-9F91-AD96DECE5C42}" destId="{734B7D28-1937-424D-95E6-C8BFF7404F2B}" srcOrd="0" destOrd="0" parTransId="{D8B1CC6A-AA87-427C-BA18-9C3067929FBD}" sibTransId="{303DDAB8-DFB0-4BE8-9082-E8E6C5C833E4}"/>
    <dgm:cxn modelId="{DE1922E7-41B2-42D8-93FC-F99783271C33}" type="presOf" srcId="{60628E99-19B0-4C32-8300-7EA141D2A5C3}" destId="{8C8A6EE3-DBF3-4447-A02E-A2261133C5B6}" srcOrd="0" destOrd="1" presId="urn:microsoft.com/office/officeart/2005/8/layout/vList6"/>
    <dgm:cxn modelId="{BBCE79ED-4DCB-456E-A0E4-0DB7602A0A61}" type="presOf" srcId="{84BD6148-7CA1-42B2-8B40-1AE509984031}" destId="{8C8A6EE3-DBF3-4447-A02E-A2261133C5B6}" srcOrd="0" destOrd="0" presId="urn:microsoft.com/office/officeart/2005/8/layout/vList6"/>
    <dgm:cxn modelId="{A79C7538-7EE7-44F3-AECE-EF7C4030D646}" type="presParOf" srcId="{34AF14F5-0487-4E24-97CA-0F04BB18DE2D}" destId="{F78B06C9-2C38-427E-881C-33DE10F2A31F}" srcOrd="0" destOrd="0" presId="urn:microsoft.com/office/officeart/2005/8/layout/vList6"/>
    <dgm:cxn modelId="{251FC2F0-513E-4A5E-8730-CC2E67E63EFB}" type="presParOf" srcId="{F78B06C9-2C38-427E-881C-33DE10F2A31F}" destId="{15AE3343-129E-427A-848F-8980FEB4F932}" srcOrd="0" destOrd="0" presId="urn:microsoft.com/office/officeart/2005/8/layout/vList6"/>
    <dgm:cxn modelId="{204F9360-0534-4BEE-B555-1216745246D6}" type="presParOf" srcId="{F78B06C9-2C38-427E-881C-33DE10F2A31F}" destId="{8C8A6EE3-DBF3-4447-A02E-A2261133C5B6}" srcOrd="1" destOrd="0" presId="urn:microsoft.com/office/officeart/2005/8/layout/vList6"/>
  </dgm:cxnLst>
  <dgm:bg>
    <a:solidFill>
      <a:schemeClr val="tx2">
        <a:lumMod val="40000"/>
        <a:lumOff val="60000"/>
      </a:schemeClr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E1367F2-E8B5-4959-AA0C-ACC3EED2E2F5}" type="doc">
      <dgm:prSet loTypeId="urn:microsoft.com/office/officeart/2005/8/layout/hList7" loCatId="picture" qsTypeId="urn:microsoft.com/office/officeart/2005/8/quickstyle/3d2" qsCatId="3D" csTypeId="urn:microsoft.com/office/officeart/2005/8/colors/colorful5" csCatId="colorful" phldr="1"/>
      <dgm:spPr/>
      <dgm:t>
        <a:bodyPr/>
        <a:lstStyle/>
        <a:p>
          <a:endParaRPr lang="es-CO"/>
        </a:p>
      </dgm:t>
    </dgm:pt>
    <dgm:pt modelId="{BDCB5FC0-DEA6-47F2-9884-63541B991E43}">
      <dgm:prSet phldrT="[Texto]"/>
      <dgm:spPr/>
      <dgm:t>
        <a:bodyPr/>
        <a:lstStyle/>
        <a:p>
          <a:r>
            <a:rPr lang="es-CO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GEOGEBRA: </a:t>
          </a:r>
          <a:r>
            <a:rPr lang="es-CO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Apoyo matemático interactivo</a:t>
          </a:r>
        </a:p>
      </dgm:t>
    </dgm:pt>
    <dgm:pt modelId="{A164FFBA-DB89-488D-9168-87BB77915EF7}" type="parTrans" cxnId="{29FED402-8FD7-443F-B529-F50EF8BF00FF}">
      <dgm:prSet/>
      <dgm:spPr/>
      <dgm:t>
        <a:bodyPr/>
        <a:lstStyle/>
        <a:p>
          <a:endParaRPr lang="es-CO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15E10506-80AE-40D4-9C21-6D0212C5799D}" type="sibTrans" cxnId="{29FED402-8FD7-443F-B529-F50EF8BF00FF}">
      <dgm:prSet/>
      <dgm:spPr/>
      <dgm:t>
        <a:bodyPr/>
        <a:lstStyle/>
        <a:p>
          <a:endParaRPr lang="es-CO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6374B9B1-A050-4A7B-807A-CD6819C5E046}">
      <dgm:prSet phldrT="[Texto]"/>
      <dgm:spPr/>
      <dgm:t>
        <a:bodyPr/>
        <a:lstStyle/>
        <a:p>
          <a:r>
            <a:rPr lang="es-CO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AVATA: </a:t>
          </a:r>
          <a:r>
            <a:rPr lang="es-CO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Actividades asincrónicas y material de apoyo</a:t>
          </a:r>
        </a:p>
      </dgm:t>
    </dgm:pt>
    <dgm:pt modelId="{41560C2C-004F-4B8E-999A-D1AF896437F8}" type="parTrans" cxnId="{B1D88D57-2083-407D-89E5-531FAE296EAC}">
      <dgm:prSet/>
      <dgm:spPr/>
      <dgm:t>
        <a:bodyPr/>
        <a:lstStyle/>
        <a:p>
          <a:endParaRPr lang="es-CO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15693785-2363-47C6-A135-77A906D4E3F7}" type="sibTrans" cxnId="{B1D88D57-2083-407D-89E5-531FAE296EAC}">
      <dgm:prSet/>
      <dgm:spPr/>
      <dgm:t>
        <a:bodyPr/>
        <a:lstStyle/>
        <a:p>
          <a:endParaRPr lang="es-CO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C7AE57B3-49D3-44A2-BD0E-659D22178EAF}">
      <dgm:prSet phldrT="[Texto]"/>
      <dgm:spPr/>
      <dgm:t>
        <a:bodyPr/>
        <a:lstStyle/>
        <a:p>
          <a:r>
            <a:rPr lang="es-CO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TEXTO GUÍA. </a:t>
          </a:r>
          <a:r>
            <a:rPr lang="es-ES_tradnl" b="0" i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Ocaña, Adelina; Pérez, Mario y otros. (2021). Precálculo. Universidad Jorge Tadeo Lozano</a:t>
          </a:r>
          <a:r>
            <a:rPr lang="es-CO" b="0" i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 </a:t>
          </a:r>
        </a:p>
      </dgm:t>
    </dgm:pt>
    <dgm:pt modelId="{470CEB8D-5CE2-4DC9-B66F-0952DDED57D6}" type="parTrans" cxnId="{68E5476A-C316-4E42-9FF6-E1D8BE892D8E}">
      <dgm:prSet/>
      <dgm:spPr/>
      <dgm:t>
        <a:bodyPr/>
        <a:lstStyle/>
        <a:p>
          <a:endParaRPr lang="es-CO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040259A2-511D-4F78-9B06-2AC22CF83C37}" type="sibTrans" cxnId="{68E5476A-C316-4E42-9FF6-E1D8BE892D8E}">
      <dgm:prSet/>
      <dgm:spPr/>
      <dgm:t>
        <a:bodyPr/>
        <a:lstStyle/>
        <a:p>
          <a:endParaRPr lang="es-CO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A42B3104-25FB-43E9-AA06-7CB484B331DF}">
      <dgm:prSet phldrT="[Texto]"/>
      <dgm:spPr/>
      <dgm:t>
        <a:bodyPr/>
        <a:lstStyle/>
        <a:p>
          <a:r>
            <a:rPr lang="es-CO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KHAN ACADEMY: </a:t>
          </a:r>
          <a:r>
            <a:rPr lang="es-ES" b="0" i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 aprendizaje electrónico en línea</a:t>
          </a:r>
          <a:endParaRPr lang="es-CO" dirty="0">
            <a:solidFill>
              <a:schemeClr val="tx1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31FC5623-F469-482B-92D6-317A531CACEE}" type="parTrans" cxnId="{D2CDDA84-5713-4F96-B925-074916E1C327}">
      <dgm:prSet/>
      <dgm:spPr/>
      <dgm:t>
        <a:bodyPr/>
        <a:lstStyle/>
        <a:p>
          <a:endParaRPr lang="es-CO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3CE3B058-4129-4DC2-94FD-622E76E0DB94}" type="sibTrans" cxnId="{D2CDDA84-5713-4F96-B925-074916E1C327}">
      <dgm:prSet/>
      <dgm:spPr/>
      <dgm:t>
        <a:bodyPr/>
        <a:lstStyle/>
        <a:p>
          <a:endParaRPr lang="es-CO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F0022532-F8E5-48A8-ACB7-80B3A15C2CB0}" type="pres">
      <dgm:prSet presAssocID="{3E1367F2-E8B5-4959-AA0C-ACC3EED2E2F5}" presName="Name0" presStyleCnt="0">
        <dgm:presLayoutVars>
          <dgm:dir/>
          <dgm:resizeHandles val="exact"/>
        </dgm:presLayoutVars>
      </dgm:prSet>
      <dgm:spPr/>
    </dgm:pt>
    <dgm:pt modelId="{59942BC0-4799-404A-A0FA-3A7B1DFA7175}" type="pres">
      <dgm:prSet presAssocID="{3E1367F2-E8B5-4959-AA0C-ACC3EED2E2F5}" presName="fgShape" presStyleLbl="fgShp" presStyleIdx="0" presStyleCnt="1"/>
      <dgm:spPr/>
    </dgm:pt>
    <dgm:pt modelId="{2E750D83-5A80-470B-B0CD-5CEFD0BE5DCC}" type="pres">
      <dgm:prSet presAssocID="{3E1367F2-E8B5-4959-AA0C-ACC3EED2E2F5}" presName="linComp" presStyleCnt="0"/>
      <dgm:spPr/>
    </dgm:pt>
    <dgm:pt modelId="{9E2E31F0-4D9C-41F0-9C96-CEA7BD3DF13F}" type="pres">
      <dgm:prSet presAssocID="{C7AE57B3-49D3-44A2-BD0E-659D22178EAF}" presName="compNode" presStyleCnt="0"/>
      <dgm:spPr/>
    </dgm:pt>
    <dgm:pt modelId="{2D03EE7E-4E0F-4747-8D38-B505D18A306D}" type="pres">
      <dgm:prSet presAssocID="{C7AE57B3-49D3-44A2-BD0E-659D22178EAF}" presName="bkgdShape" presStyleLbl="node1" presStyleIdx="0" presStyleCnt="4"/>
      <dgm:spPr/>
    </dgm:pt>
    <dgm:pt modelId="{60CD7579-90E5-4BD7-8139-4A17E78A51FB}" type="pres">
      <dgm:prSet presAssocID="{C7AE57B3-49D3-44A2-BD0E-659D22178EAF}" presName="nodeTx" presStyleLbl="node1" presStyleIdx="0" presStyleCnt="4">
        <dgm:presLayoutVars>
          <dgm:bulletEnabled val="1"/>
        </dgm:presLayoutVars>
      </dgm:prSet>
      <dgm:spPr/>
    </dgm:pt>
    <dgm:pt modelId="{931A2D9B-6395-4DF6-9A95-8E905BC731ED}" type="pres">
      <dgm:prSet presAssocID="{C7AE57B3-49D3-44A2-BD0E-659D22178EAF}" presName="invisiNode" presStyleLbl="node1" presStyleIdx="0" presStyleCnt="4"/>
      <dgm:spPr/>
    </dgm:pt>
    <dgm:pt modelId="{11C1D1C9-A29B-483C-AC58-4494E2D4E669}" type="pres">
      <dgm:prSet presAssocID="{C7AE57B3-49D3-44A2-BD0E-659D22178EAF}" presName="imagNode" presStyleLbl="fgImgPlace1" presStyleIdx="0" presStyleCnt="4"/>
      <dgm:spPr>
        <a:blipFill>
          <a:blip xmlns:r="http://schemas.openxmlformats.org/officeDocument/2006/relationships" r:embed="rId1"/>
          <a:srcRect/>
          <a:stretch>
            <a:fillRect l="-14000" r="-14000"/>
          </a:stretch>
        </a:blipFill>
      </dgm:spPr>
    </dgm:pt>
    <dgm:pt modelId="{10026867-08B0-47E2-9786-87F8D893EE17}" type="pres">
      <dgm:prSet presAssocID="{040259A2-511D-4F78-9B06-2AC22CF83C37}" presName="sibTrans" presStyleLbl="sibTrans2D1" presStyleIdx="0" presStyleCnt="0"/>
      <dgm:spPr/>
    </dgm:pt>
    <dgm:pt modelId="{86B34530-FB33-48A1-B060-C9732A4683AA}" type="pres">
      <dgm:prSet presAssocID="{6374B9B1-A050-4A7B-807A-CD6819C5E046}" presName="compNode" presStyleCnt="0"/>
      <dgm:spPr/>
    </dgm:pt>
    <dgm:pt modelId="{057788C8-64EA-4BE5-B1B3-C7A30FB634AC}" type="pres">
      <dgm:prSet presAssocID="{6374B9B1-A050-4A7B-807A-CD6819C5E046}" presName="bkgdShape" presStyleLbl="node1" presStyleIdx="1" presStyleCnt="4"/>
      <dgm:spPr/>
    </dgm:pt>
    <dgm:pt modelId="{B5DC75B7-D5F8-46E9-9E24-2303CCF48CD1}" type="pres">
      <dgm:prSet presAssocID="{6374B9B1-A050-4A7B-807A-CD6819C5E046}" presName="nodeTx" presStyleLbl="node1" presStyleIdx="1" presStyleCnt="4">
        <dgm:presLayoutVars>
          <dgm:bulletEnabled val="1"/>
        </dgm:presLayoutVars>
      </dgm:prSet>
      <dgm:spPr/>
    </dgm:pt>
    <dgm:pt modelId="{B150D402-8561-4BA7-BC26-C60F2308A836}" type="pres">
      <dgm:prSet presAssocID="{6374B9B1-A050-4A7B-807A-CD6819C5E046}" presName="invisiNode" presStyleLbl="node1" presStyleIdx="1" presStyleCnt="4"/>
      <dgm:spPr/>
    </dgm:pt>
    <dgm:pt modelId="{07AE275C-AF31-46AF-8F00-FAE9A9FA761D}" type="pres">
      <dgm:prSet presAssocID="{6374B9B1-A050-4A7B-807A-CD6819C5E046}" presName="imagNode" presStyleLbl="fgImgPlace1" presStyleIdx="1" presStyleCnt="4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3000" r="-63000"/>
          </a:stretch>
        </a:blipFill>
      </dgm:spPr>
    </dgm:pt>
    <dgm:pt modelId="{6A48C319-1321-40F0-815D-98DD09D2EE9C}" type="pres">
      <dgm:prSet presAssocID="{15693785-2363-47C6-A135-77A906D4E3F7}" presName="sibTrans" presStyleLbl="sibTrans2D1" presStyleIdx="0" presStyleCnt="0"/>
      <dgm:spPr/>
    </dgm:pt>
    <dgm:pt modelId="{E8DE0D93-6E4F-4BB8-8BFC-AB48522E4704}" type="pres">
      <dgm:prSet presAssocID="{BDCB5FC0-DEA6-47F2-9884-63541B991E43}" presName="compNode" presStyleCnt="0"/>
      <dgm:spPr/>
    </dgm:pt>
    <dgm:pt modelId="{835344F5-CCC7-42CF-87F7-9EFB248780A5}" type="pres">
      <dgm:prSet presAssocID="{BDCB5FC0-DEA6-47F2-9884-63541B991E43}" presName="bkgdShape" presStyleLbl="node1" presStyleIdx="2" presStyleCnt="4"/>
      <dgm:spPr/>
    </dgm:pt>
    <dgm:pt modelId="{255FC46E-5699-48F1-8EB1-B5E2A3000377}" type="pres">
      <dgm:prSet presAssocID="{BDCB5FC0-DEA6-47F2-9884-63541B991E43}" presName="nodeTx" presStyleLbl="node1" presStyleIdx="2" presStyleCnt="4">
        <dgm:presLayoutVars>
          <dgm:bulletEnabled val="1"/>
        </dgm:presLayoutVars>
      </dgm:prSet>
      <dgm:spPr/>
    </dgm:pt>
    <dgm:pt modelId="{54625282-F62E-48FD-8058-CD8C60391241}" type="pres">
      <dgm:prSet presAssocID="{BDCB5FC0-DEA6-47F2-9884-63541B991E43}" presName="invisiNode" presStyleLbl="node1" presStyleIdx="2" presStyleCnt="4"/>
      <dgm:spPr/>
    </dgm:pt>
    <dgm:pt modelId="{D6CE69D6-981A-4E07-B486-83F3FA99B753}" type="pres">
      <dgm:prSet presAssocID="{BDCB5FC0-DEA6-47F2-9884-63541B991E43}" presName="imagNode" presStyleLbl="fgImgPlace1" presStyleIdx="2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80000" r="-80000"/>
          </a:stretch>
        </a:blipFill>
      </dgm:spPr>
    </dgm:pt>
    <dgm:pt modelId="{2C90DD9E-ABFC-4834-A024-BAC836E8374B}" type="pres">
      <dgm:prSet presAssocID="{15E10506-80AE-40D4-9C21-6D0212C5799D}" presName="sibTrans" presStyleLbl="sibTrans2D1" presStyleIdx="0" presStyleCnt="0"/>
      <dgm:spPr/>
    </dgm:pt>
    <dgm:pt modelId="{257BA9E0-2059-46F8-862E-269658E9EFA1}" type="pres">
      <dgm:prSet presAssocID="{A42B3104-25FB-43E9-AA06-7CB484B331DF}" presName="compNode" presStyleCnt="0"/>
      <dgm:spPr/>
    </dgm:pt>
    <dgm:pt modelId="{A7731758-7D29-4CD8-B37B-5924F4FB05D1}" type="pres">
      <dgm:prSet presAssocID="{A42B3104-25FB-43E9-AA06-7CB484B331DF}" presName="bkgdShape" presStyleLbl="node1" presStyleIdx="3" presStyleCnt="4"/>
      <dgm:spPr/>
    </dgm:pt>
    <dgm:pt modelId="{E9CBAE3D-20B6-4366-89AA-7DE74A66A88F}" type="pres">
      <dgm:prSet presAssocID="{A42B3104-25FB-43E9-AA06-7CB484B331DF}" presName="nodeTx" presStyleLbl="node1" presStyleIdx="3" presStyleCnt="4">
        <dgm:presLayoutVars>
          <dgm:bulletEnabled val="1"/>
        </dgm:presLayoutVars>
      </dgm:prSet>
      <dgm:spPr/>
    </dgm:pt>
    <dgm:pt modelId="{83850990-3ABE-4ACE-992C-52176DE7C4F6}" type="pres">
      <dgm:prSet presAssocID="{A42B3104-25FB-43E9-AA06-7CB484B331DF}" presName="invisiNode" presStyleLbl="node1" presStyleIdx="3" presStyleCnt="4"/>
      <dgm:spPr/>
    </dgm:pt>
    <dgm:pt modelId="{DA112F27-CA2B-4606-9A25-69079B8CD42D}" type="pres">
      <dgm:prSet presAssocID="{A42B3104-25FB-43E9-AA06-7CB484B331DF}" presName="imagNode" presStyleLbl="fgImgPlace1" presStyleIdx="3" presStyleCnt="4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7000" r="-47000"/>
          </a:stretch>
        </a:blipFill>
      </dgm:spPr>
    </dgm:pt>
  </dgm:ptLst>
  <dgm:cxnLst>
    <dgm:cxn modelId="{29FED402-8FD7-443F-B529-F50EF8BF00FF}" srcId="{3E1367F2-E8B5-4959-AA0C-ACC3EED2E2F5}" destId="{BDCB5FC0-DEA6-47F2-9884-63541B991E43}" srcOrd="2" destOrd="0" parTransId="{A164FFBA-DB89-488D-9168-87BB77915EF7}" sibTransId="{15E10506-80AE-40D4-9C21-6D0212C5799D}"/>
    <dgm:cxn modelId="{2523A309-C1B7-40DF-B6CF-4875A519BC9F}" type="presOf" srcId="{3E1367F2-E8B5-4959-AA0C-ACC3EED2E2F5}" destId="{F0022532-F8E5-48A8-ACB7-80B3A15C2CB0}" srcOrd="0" destOrd="0" presId="urn:microsoft.com/office/officeart/2005/8/layout/hList7"/>
    <dgm:cxn modelId="{EAF12D2D-F133-4761-A2E9-955863A69964}" type="presOf" srcId="{6374B9B1-A050-4A7B-807A-CD6819C5E046}" destId="{057788C8-64EA-4BE5-B1B3-C7A30FB634AC}" srcOrd="0" destOrd="0" presId="urn:microsoft.com/office/officeart/2005/8/layout/hList7"/>
    <dgm:cxn modelId="{B5436E41-AA64-4299-A368-C38674951D7F}" type="presOf" srcId="{040259A2-511D-4F78-9B06-2AC22CF83C37}" destId="{10026867-08B0-47E2-9786-87F8D893EE17}" srcOrd="0" destOrd="0" presId="urn:microsoft.com/office/officeart/2005/8/layout/hList7"/>
    <dgm:cxn modelId="{A5332D42-EF71-4CE4-9EF9-27C33ECE10B7}" type="presOf" srcId="{6374B9B1-A050-4A7B-807A-CD6819C5E046}" destId="{B5DC75B7-D5F8-46E9-9E24-2303CCF48CD1}" srcOrd="1" destOrd="0" presId="urn:microsoft.com/office/officeart/2005/8/layout/hList7"/>
    <dgm:cxn modelId="{DDB49869-6EE0-4AE4-9428-68938DC0EF15}" type="presOf" srcId="{A42B3104-25FB-43E9-AA06-7CB484B331DF}" destId="{E9CBAE3D-20B6-4366-89AA-7DE74A66A88F}" srcOrd="1" destOrd="0" presId="urn:microsoft.com/office/officeart/2005/8/layout/hList7"/>
    <dgm:cxn modelId="{68E5476A-C316-4E42-9FF6-E1D8BE892D8E}" srcId="{3E1367F2-E8B5-4959-AA0C-ACC3EED2E2F5}" destId="{C7AE57B3-49D3-44A2-BD0E-659D22178EAF}" srcOrd="0" destOrd="0" parTransId="{470CEB8D-5CE2-4DC9-B66F-0952DDED57D6}" sibTransId="{040259A2-511D-4F78-9B06-2AC22CF83C37}"/>
    <dgm:cxn modelId="{9AA1E76C-6C50-46F1-8581-3825838652F0}" type="presOf" srcId="{15693785-2363-47C6-A135-77A906D4E3F7}" destId="{6A48C319-1321-40F0-815D-98DD09D2EE9C}" srcOrd="0" destOrd="0" presId="urn:microsoft.com/office/officeart/2005/8/layout/hList7"/>
    <dgm:cxn modelId="{5648226F-8C07-47C7-9FB6-1B87CF440C80}" type="presOf" srcId="{A42B3104-25FB-43E9-AA06-7CB484B331DF}" destId="{A7731758-7D29-4CD8-B37B-5924F4FB05D1}" srcOrd="0" destOrd="0" presId="urn:microsoft.com/office/officeart/2005/8/layout/hList7"/>
    <dgm:cxn modelId="{B1D88D57-2083-407D-89E5-531FAE296EAC}" srcId="{3E1367F2-E8B5-4959-AA0C-ACC3EED2E2F5}" destId="{6374B9B1-A050-4A7B-807A-CD6819C5E046}" srcOrd="1" destOrd="0" parTransId="{41560C2C-004F-4B8E-999A-D1AF896437F8}" sibTransId="{15693785-2363-47C6-A135-77A906D4E3F7}"/>
    <dgm:cxn modelId="{D2CDDA84-5713-4F96-B925-074916E1C327}" srcId="{3E1367F2-E8B5-4959-AA0C-ACC3EED2E2F5}" destId="{A42B3104-25FB-43E9-AA06-7CB484B331DF}" srcOrd="3" destOrd="0" parTransId="{31FC5623-F469-482B-92D6-317A531CACEE}" sibTransId="{3CE3B058-4129-4DC2-94FD-622E76E0DB94}"/>
    <dgm:cxn modelId="{EECEA08B-BBDC-4326-8B04-D3C804ACF73B}" type="presOf" srcId="{C7AE57B3-49D3-44A2-BD0E-659D22178EAF}" destId="{2D03EE7E-4E0F-4747-8D38-B505D18A306D}" srcOrd="0" destOrd="0" presId="urn:microsoft.com/office/officeart/2005/8/layout/hList7"/>
    <dgm:cxn modelId="{AF7B5A9A-7CF1-407C-B3A3-0E87AEDB3FAA}" type="presOf" srcId="{BDCB5FC0-DEA6-47F2-9884-63541B991E43}" destId="{835344F5-CCC7-42CF-87F7-9EFB248780A5}" srcOrd="0" destOrd="0" presId="urn:microsoft.com/office/officeart/2005/8/layout/hList7"/>
    <dgm:cxn modelId="{BAB8F89E-78DC-48C7-BFD5-0BAA03EFBB12}" type="presOf" srcId="{C7AE57B3-49D3-44A2-BD0E-659D22178EAF}" destId="{60CD7579-90E5-4BD7-8139-4A17E78A51FB}" srcOrd="1" destOrd="0" presId="urn:microsoft.com/office/officeart/2005/8/layout/hList7"/>
    <dgm:cxn modelId="{7E6F1EB7-F32B-4C9D-839C-131C7B3514D1}" type="presOf" srcId="{15E10506-80AE-40D4-9C21-6D0212C5799D}" destId="{2C90DD9E-ABFC-4834-A024-BAC836E8374B}" srcOrd="0" destOrd="0" presId="urn:microsoft.com/office/officeart/2005/8/layout/hList7"/>
    <dgm:cxn modelId="{E635E0D9-CAA5-4DED-9872-10DA85086E57}" type="presOf" srcId="{BDCB5FC0-DEA6-47F2-9884-63541B991E43}" destId="{255FC46E-5699-48F1-8EB1-B5E2A3000377}" srcOrd="1" destOrd="0" presId="urn:microsoft.com/office/officeart/2005/8/layout/hList7"/>
    <dgm:cxn modelId="{DDF91737-9CA6-48F3-BA61-B18B5B5BD741}" type="presParOf" srcId="{F0022532-F8E5-48A8-ACB7-80B3A15C2CB0}" destId="{59942BC0-4799-404A-A0FA-3A7B1DFA7175}" srcOrd="0" destOrd="0" presId="urn:microsoft.com/office/officeart/2005/8/layout/hList7"/>
    <dgm:cxn modelId="{D87C48C8-A0F2-40F9-8800-C68482A98C90}" type="presParOf" srcId="{F0022532-F8E5-48A8-ACB7-80B3A15C2CB0}" destId="{2E750D83-5A80-470B-B0CD-5CEFD0BE5DCC}" srcOrd="1" destOrd="0" presId="urn:microsoft.com/office/officeart/2005/8/layout/hList7"/>
    <dgm:cxn modelId="{99DE5451-C26F-49BE-AB96-6898E118EC07}" type="presParOf" srcId="{2E750D83-5A80-470B-B0CD-5CEFD0BE5DCC}" destId="{9E2E31F0-4D9C-41F0-9C96-CEA7BD3DF13F}" srcOrd="0" destOrd="0" presId="urn:microsoft.com/office/officeart/2005/8/layout/hList7"/>
    <dgm:cxn modelId="{33D10353-82AF-4613-A2C0-CE8A30F191A7}" type="presParOf" srcId="{9E2E31F0-4D9C-41F0-9C96-CEA7BD3DF13F}" destId="{2D03EE7E-4E0F-4747-8D38-B505D18A306D}" srcOrd="0" destOrd="0" presId="urn:microsoft.com/office/officeart/2005/8/layout/hList7"/>
    <dgm:cxn modelId="{66EF777E-FA50-4466-B093-AAE71B1A9B21}" type="presParOf" srcId="{9E2E31F0-4D9C-41F0-9C96-CEA7BD3DF13F}" destId="{60CD7579-90E5-4BD7-8139-4A17E78A51FB}" srcOrd="1" destOrd="0" presId="urn:microsoft.com/office/officeart/2005/8/layout/hList7"/>
    <dgm:cxn modelId="{531346A4-F7C4-4303-B697-BC511F86F3FB}" type="presParOf" srcId="{9E2E31F0-4D9C-41F0-9C96-CEA7BD3DF13F}" destId="{931A2D9B-6395-4DF6-9A95-8E905BC731ED}" srcOrd="2" destOrd="0" presId="urn:microsoft.com/office/officeart/2005/8/layout/hList7"/>
    <dgm:cxn modelId="{B88BC963-8F2B-4705-B573-7B469F1AC41D}" type="presParOf" srcId="{9E2E31F0-4D9C-41F0-9C96-CEA7BD3DF13F}" destId="{11C1D1C9-A29B-483C-AC58-4494E2D4E669}" srcOrd="3" destOrd="0" presId="urn:microsoft.com/office/officeart/2005/8/layout/hList7"/>
    <dgm:cxn modelId="{25014293-9691-4D88-A011-81FD8F9EE5F2}" type="presParOf" srcId="{2E750D83-5A80-470B-B0CD-5CEFD0BE5DCC}" destId="{10026867-08B0-47E2-9786-87F8D893EE17}" srcOrd="1" destOrd="0" presId="urn:microsoft.com/office/officeart/2005/8/layout/hList7"/>
    <dgm:cxn modelId="{5A6E4BD3-3CBA-4994-9DB7-80C1746377A2}" type="presParOf" srcId="{2E750D83-5A80-470B-B0CD-5CEFD0BE5DCC}" destId="{86B34530-FB33-48A1-B060-C9732A4683AA}" srcOrd="2" destOrd="0" presId="urn:microsoft.com/office/officeart/2005/8/layout/hList7"/>
    <dgm:cxn modelId="{B3DC9486-9A89-4CFA-BE81-34488BACB128}" type="presParOf" srcId="{86B34530-FB33-48A1-B060-C9732A4683AA}" destId="{057788C8-64EA-4BE5-B1B3-C7A30FB634AC}" srcOrd="0" destOrd="0" presId="urn:microsoft.com/office/officeart/2005/8/layout/hList7"/>
    <dgm:cxn modelId="{907F4A9E-AB5F-4CE5-8767-D42FA042E6F1}" type="presParOf" srcId="{86B34530-FB33-48A1-B060-C9732A4683AA}" destId="{B5DC75B7-D5F8-46E9-9E24-2303CCF48CD1}" srcOrd="1" destOrd="0" presId="urn:microsoft.com/office/officeart/2005/8/layout/hList7"/>
    <dgm:cxn modelId="{84B42B76-E280-43B8-8CDE-9EA5C1C260CF}" type="presParOf" srcId="{86B34530-FB33-48A1-B060-C9732A4683AA}" destId="{B150D402-8561-4BA7-BC26-C60F2308A836}" srcOrd="2" destOrd="0" presId="urn:microsoft.com/office/officeart/2005/8/layout/hList7"/>
    <dgm:cxn modelId="{1417C85E-5336-4FA3-92E7-90A4D4F3A493}" type="presParOf" srcId="{86B34530-FB33-48A1-B060-C9732A4683AA}" destId="{07AE275C-AF31-46AF-8F00-FAE9A9FA761D}" srcOrd="3" destOrd="0" presId="urn:microsoft.com/office/officeart/2005/8/layout/hList7"/>
    <dgm:cxn modelId="{A7E250E9-E58D-487B-A4C4-4B89119111F6}" type="presParOf" srcId="{2E750D83-5A80-470B-B0CD-5CEFD0BE5DCC}" destId="{6A48C319-1321-40F0-815D-98DD09D2EE9C}" srcOrd="3" destOrd="0" presId="urn:microsoft.com/office/officeart/2005/8/layout/hList7"/>
    <dgm:cxn modelId="{57F42A72-5418-4765-82DA-BE56D7C8D44B}" type="presParOf" srcId="{2E750D83-5A80-470B-B0CD-5CEFD0BE5DCC}" destId="{E8DE0D93-6E4F-4BB8-8BFC-AB48522E4704}" srcOrd="4" destOrd="0" presId="urn:microsoft.com/office/officeart/2005/8/layout/hList7"/>
    <dgm:cxn modelId="{95AE9890-FDC1-481D-A3DC-95BB821E9B81}" type="presParOf" srcId="{E8DE0D93-6E4F-4BB8-8BFC-AB48522E4704}" destId="{835344F5-CCC7-42CF-87F7-9EFB248780A5}" srcOrd="0" destOrd="0" presId="urn:microsoft.com/office/officeart/2005/8/layout/hList7"/>
    <dgm:cxn modelId="{E873756D-EDC0-4469-BEE6-667E8B827A5B}" type="presParOf" srcId="{E8DE0D93-6E4F-4BB8-8BFC-AB48522E4704}" destId="{255FC46E-5699-48F1-8EB1-B5E2A3000377}" srcOrd="1" destOrd="0" presId="urn:microsoft.com/office/officeart/2005/8/layout/hList7"/>
    <dgm:cxn modelId="{36B0D296-E6E6-427D-AC2C-B55D23CC3535}" type="presParOf" srcId="{E8DE0D93-6E4F-4BB8-8BFC-AB48522E4704}" destId="{54625282-F62E-48FD-8058-CD8C60391241}" srcOrd="2" destOrd="0" presId="urn:microsoft.com/office/officeart/2005/8/layout/hList7"/>
    <dgm:cxn modelId="{FD04AE25-0793-415B-9FC6-5D2A299BD634}" type="presParOf" srcId="{E8DE0D93-6E4F-4BB8-8BFC-AB48522E4704}" destId="{D6CE69D6-981A-4E07-B486-83F3FA99B753}" srcOrd="3" destOrd="0" presId="urn:microsoft.com/office/officeart/2005/8/layout/hList7"/>
    <dgm:cxn modelId="{FD326D43-436C-4DA5-A0A8-BC0593287CB6}" type="presParOf" srcId="{2E750D83-5A80-470B-B0CD-5CEFD0BE5DCC}" destId="{2C90DD9E-ABFC-4834-A024-BAC836E8374B}" srcOrd="5" destOrd="0" presId="urn:microsoft.com/office/officeart/2005/8/layout/hList7"/>
    <dgm:cxn modelId="{67D0489F-C0FD-4B8A-901D-8E49AC46A43B}" type="presParOf" srcId="{2E750D83-5A80-470B-B0CD-5CEFD0BE5DCC}" destId="{257BA9E0-2059-46F8-862E-269658E9EFA1}" srcOrd="6" destOrd="0" presId="urn:microsoft.com/office/officeart/2005/8/layout/hList7"/>
    <dgm:cxn modelId="{0220DF07-5706-4151-9458-D2ADEA3B837F}" type="presParOf" srcId="{257BA9E0-2059-46F8-862E-269658E9EFA1}" destId="{A7731758-7D29-4CD8-B37B-5924F4FB05D1}" srcOrd="0" destOrd="0" presId="urn:microsoft.com/office/officeart/2005/8/layout/hList7"/>
    <dgm:cxn modelId="{47761E6C-1F53-414A-BF5D-755D184FF77A}" type="presParOf" srcId="{257BA9E0-2059-46F8-862E-269658E9EFA1}" destId="{E9CBAE3D-20B6-4366-89AA-7DE74A66A88F}" srcOrd="1" destOrd="0" presId="urn:microsoft.com/office/officeart/2005/8/layout/hList7"/>
    <dgm:cxn modelId="{E898B49F-10AD-42E8-A5ED-C522A7C7D31D}" type="presParOf" srcId="{257BA9E0-2059-46F8-862E-269658E9EFA1}" destId="{83850990-3ABE-4ACE-992C-52176DE7C4F6}" srcOrd="2" destOrd="0" presId="urn:microsoft.com/office/officeart/2005/8/layout/hList7"/>
    <dgm:cxn modelId="{5640424A-2AE1-41D0-A2E4-73CA9BFA427D}" type="presParOf" srcId="{257BA9E0-2059-46F8-862E-269658E9EFA1}" destId="{DA112F27-CA2B-4606-9A25-69079B8CD42D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8A6EE3-DBF3-4447-A02E-A2261133C5B6}">
      <dsp:nvSpPr>
        <dsp:cNvPr id="0" name=""/>
        <dsp:cNvSpPr/>
      </dsp:nvSpPr>
      <dsp:spPr>
        <a:xfrm>
          <a:off x="2213059" y="0"/>
          <a:ext cx="9664112" cy="5323396"/>
        </a:xfrm>
        <a:prstGeom prst="rightArrow">
          <a:avLst>
            <a:gd name="adj1" fmla="val 75000"/>
            <a:gd name="adj2" fmla="val 50000"/>
          </a:avLst>
        </a:prstGeom>
        <a:solidFill>
          <a:schemeClr val="tx2">
            <a:lumMod val="20000"/>
            <a:lumOff val="80000"/>
            <a:alpha val="9000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152400" extrusionH="63500" prstMaterial="dkEdge">
          <a:bevelT w="14445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t" anchorCtr="0">
          <a:noAutofit/>
        </a:bodyPr>
        <a:lstStyle/>
        <a:p>
          <a:pPr marL="263525" lvl="1" indent="-171450" algn="l" defTabSz="1422400">
            <a:lnSpc>
              <a:spcPct val="100000"/>
            </a:lnSpc>
            <a:spcBef>
              <a:spcPct val="0"/>
            </a:spcBef>
            <a:spcAft>
              <a:spcPts val="1200"/>
            </a:spcAft>
            <a:buChar char="•"/>
          </a:pPr>
          <a:r>
            <a:rPr lang="es-CO" sz="3200" kern="12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s-CO" sz="3000" kern="12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rPr>
            <a:t>2 sesiones de dos horas cada una. </a:t>
          </a:r>
        </a:p>
        <a:p>
          <a:pPr marL="263525" lvl="1" indent="-171450" algn="l" defTabSz="1333500">
            <a:lnSpc>
              <a:spcPct val="100000"/>
            </a:lnSpc>
            <a:spcBef>
              <a:spcPct val="0"/>
            </a:spcBef>
            <a:spcAft>
              <a:spcPts val="1200"/>
            </a:spcAft>
            <a:buChar char="•"/>
          </a:pPr>
          <a:r>
            <a:rPr lang="es-CO" sz="3000" kern="12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rPr>
            <a:t> Evaluación:</a:t>
          </a:r>
        </a:p>
        <a:p>
          <a:pPr marL="628650" lvl="1" indent="-274638" algn="l" defTabSz="1333500">
            <a:lnSpc>
              <a:spcPct val="100000"/>
            </a:lnSpc>
            <a:spcBef>
              <a:spcPct val="0"/>
            </a:spcBef>
            <a:spcAft>
              <a:spcPts val="1200"/>
            </a:spcAft>
            <a:buChar char="•"/>
          </a:pPr>
          <a:r>
            <a:rPr lang="es-CO" sz="3000" kern="12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rPr>
            <a:t>Parcial 40%</a:t>
          </a:r>
        </a:p>
        <a:p>
          <a:pPr marL="628650" lvl="1" indent="-274638" algn="l" defTabSz="1333500">
            <a:lnSpc>
              <a:spcPct val="100000"/>
            </a:lnSpc>
            <a:spcBef>
              <a:spcPct val="0"/>
            </a:spcBef>
            <a:spcAft>
              <a:spcPts val="1200"/>
            </a:spcAft>
            <a:buChar char="•"/>
          </a:pPr>
          <a:r>
            <a:rPr lang="es-CO" sz="3000" kern="12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rPr>
            <a:t>Quiz 20%</a:t>
          </a:r>
        </a:p>
        <a:p>
          <a:pPr marL="628650" lvl="1" indent="-274638" algn="l" defTabSz="1333500">
            <a:lnSpc>
              <a:spcPct val="100000"/>
            </a:lnSpc>
            <a:spcBef>
              <a:spcPct val="0"/>
            </a:spcBef>
            <a:spcAft>
              <a:spcPts val="1200"/>
            </a:spcAft>
            <a:buChar char="•"/>
          </a:pPr>
          <a:r>
            <a:rPr lang="es-CO" sz="3000" kern="12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rPr>
            <a:t>Talleres-Evaluaciones AVATA 20%</a:t>
          </a:r>
        </a:p>
        <a:p>
          <a:pPr marL="628650" lvl="1" indent="-274638" algn="l" defTabSz="13335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3000" kern="12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rPr>
            <a:t>Khan </a:t>
          </a:r>
          <a:r>
            <a:rPr lang="es-CO" sz="3000" kern="1200" dirty="0" err="1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rPr>
            <a:t>Academy</a:t>
          </a:r>
          <a:r>
            <a:rPr lang="es-CO" sz="3000" kern="12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rPr>
            <a:t> 20%</a:t>
          </a:r>
        </a:p>
      </dsp:txBody>
      <dsp:txXfrm>
        <a:off x="2213059" y="665425"/>
        <a:ext cx="7667839" cy="3992547"/>
      </dsp:txXfrm>
    </dsp:sp>
    <dsp:sp modelId="{15AE3343-129E-427A-848F-8980FEB4F932}">
      <dsp:nvSpPr>
        <dsp:cNvPr id="0" name=""/>
        <dsp:cNvSpPr/>
      </dsp:nvSpPr>
      <dsp:spPr>
        <a:xfrm>
          <a:off x="0" y="1370833"/>
          <a:ext cx="2207388" cy="2301657"/>
        </a:xfrm>
        <a:prstGeom prst="roundRect">
          <a:avLst/>
        </a:prstGeom>
        <a:solidFill>
          <a:schemeClr val="tx2">
            <a:lumMod val="20000"/>
            <a:lumOff val="8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76200" rIns="152400" bIns="762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4000" kern="12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rPr>
            <a:t>Clases</a:t>
          </a:r>
        </a:p>
      </dsp:txBody>
      <dsp:txXfrm>
        <a:off x="107756" y="1478589"/>
        <a:ext cx="1991876" cy="208614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03EE7E-4E0F-4747-8D38-B505D18A306D}">
      <dsp:nvSpPr>
        <dsp:cNvPr id="0" name=""/>
        <dsp:cNvSpPr/>
      </dsp:nvSpPr>
      <dsp:spPr>
        <a:xfrm>
          <a:off x="2518" y="0"/>
          <a:ext cx="2639648" cy="422150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900" b="1" kern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TEXTO GUÍA. </a:t>
          </a:r>
          <a:r>
            <a:rPr lang="es-ES_tradnl" sz="1900" b="0" i="0" kern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Ocaña, Adelina; Pérez, Mario y otros. (2021). Precálculo. Universidad Jorge Tadeo Lozano</a:t>
          </a:r>
          <a:r>
            <a:rPr lang="es-CO" sz="1900" b="0" i="0" kern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 </a:t>
          </a:r>
        </a:p>
      </dsp:txBody>
      <dsp:txXfrm>
        <a:off x="2518" y="1688600"/>
        <a:ext cx="2639648" cy="1688600"/>
      </dsp:txXfrm>
    </dsp:sp>
    <dsp:sp modelId="{11C1D1C9-A29B-483C-AC58-4494E2D4E669}">
      <dsp:nvSpPr>
        <dsp:cNvPr id="0" name=""/>
        <dsp:cNvSpPr/>
      </dsp:nvSpPr>
      <dsp:spPr>
        <a:xfrm>
          <a:off x="619462" y="253290"/>
          <a:ext cx="1405759" cy="1405759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 l="-14000" r="-14000"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7788C8-64EA-4BE5-B1B3-C7A30FB634AC}">
      <dsp:nvSpPr>
        <dsp:cNvPr id="0" name=""/>
        <dsp:cNvSpPr/>
      </dsp:nvSpPr>
      <dsp:spPr>
        <a:xfrm>
          <a:off x="2721356" y="0"/>
          <a:ext cx="2639648" cy="422150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3311292"/>
                <a:satOff val="13270"/>
                <a:lumOff val="2876"/>
                <a:alphaOff val="0"/>
                <a:shade val="51000"/>
                <a:satMod val="130000"/>
              </a:schemeClr>
            </a:gs>
            <a:gs pos="80000">
              <a:schemeClr val="accent5">
                <a:hueOff val="-3311292"/>
                <a:satOff val="13270"/>
                <a:lumOff val="2876"/>
                <a:alphaOff val="0"/>
                <a:shade val="93000"/>
                <a:satMod val="130000"/>
              </a:schemeClr>
            </a:gs>
            <a:gs pos="100000">
              <a:schemeClr val="accent5">
                <a:hueOff val="-3311292"/>
                <a:satOff val="13270"/>
                <a:lumOff val="287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900" b="1" kern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AVATA: </a:t>
          </a:r>
          <a:r>
            <a:rPr lang="es-CO" sz="1900" b="0" kern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Actividades asincrónicas y material de apoyo</a:t>
          </a:r>
        </a:p>
      </dsp:txBody>
      <dsp:txXfrm>
        <a:off x="2721356" y="1688600"/>
        <a:ext cx="2639648" cy="1688600"/>
      </dsp:txXfrm>
    </dsp:sp>
    <dsp:sp modelId="{07AE275C-AF31-46AF-8F00-FAE9A9FA761D}">
      <dsp:nvSpPr>
        <dsp:cNvPr id="0" name=""/>
        <dsp:cNvSpPr/>
      </dsp:nvSpPr>
      <dsp:spPr>
        <a:xfrm>
          <a:off x="3338300" y="253290"/>
          <a:ext cx="1405759" cy="1405759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3000" r="-63000"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5344F5-CCC7-42CF-87F7-9EFB248780A5}">
      <dsp:nvSpPr>
        <dsp:cNvPr id="0" name=""/>
        <dsp:cNvSpPr/>
      </dsp:nvSpPr>
      <dsp:spPr>
        <a:xfrm>
          <a:off x="5440194" y="0"/>
          <a:ext cx="2639648" cy="422150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6622584"/>
                <a:satOff val="26541"/>
                <a:lumOff val="5752"/>
                <a:alphaOff val="0"/>
                <a:shade val="51000"/>
                <a:satMod val="130000"/>
              </a:schemeClr>
            </a:gs>
            <a:gs pos="80000">
              <a:schemeClr val="accent5">
                <a:hueOff val="-6622584"/>
                <a:satOff val="26541"/>
                <a:lumOff val="5752"/>
                <a:alphaOff val="0"/>
                <a:shade val="93000"/>
                <a:satMod val="130000"/>
              </a:schemeClr>
            </a:gs>
            <a:gs pos="100000">
              <a:schemeClr val="accent5">
                <a:hueOff val="-6622584"/>
                <a:satOff val="26541"/>
                <a:lumOff val="5752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900" b="1" kern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GEOGEBRA: </a:t>
          </a:r>
          <a:r>
            <a:rPr lang="es-CO" sz="1900" kern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Apoyo matemático interactivo</a:t>
          </a:r>
        </a:p>
      </dsp:txBody>
      <dsp:txXfrm>
        <a:off x="5440194" y="1688600"/>
        <a:ext cx="2639648" cy="1688600"/>
      </dsp:txXfrm>
    </dsp:sp>
    <dsp:sp modelId="{D6CE69D6-981A-4E07-B486-83F3FA99B753}">
      <dsp:nvSpPr>
        <dsp:cNvPr id="0" name=""/>
        <dsp:cNvSpPr/>
      </dsp:nvSpPr>
      <dsp:spPr>
        <a:xfrm>
          <a:off x="6057139" y="253290"/>
          <a:ext cx="1405759" cy="1405759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80000" r="-80000"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731758-7D29-4CD8-B37B-5924F4FB05D1}">
      <dsp:nvSpPr>
        <dsp:cNvPr id="0" name=""/>
        <dsp:cNvSpPr/>
      </dsp:nvSpPr>
      <dsp:spPr>
        <a:xfrm>
          <a:off x="8159032" y="0"/>
          <a:ext cx="2639648" cy="422150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shade val="51000"/>
                <a:satMod val="130000"/>
              </a:schemeClr>
            </a:gs>
            <a:gs pos="80000">
              <a:schemeClr val="accent5">
                <a:hueOff val="-9933876"/>
                <a:satOff val="39811"/>
                <a:lumOff val="8628"/>
                <a:alphaOff val="0"/>
                <a:shade val="93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900" b="1" kern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KHAN ACADEMY: </a:t>
          </a:r>
          <a:r>
            <a:rPr lang="es-ES" sz="1900" b="0" i="0" kern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 aprendizaje electrónico en línea</a:t>
          </a:r>
          <a:endParaRPr lang="es-CO" sz="1900" kern="1200" dirty="0">
            <a:solidFill>
              <a:schemeClr val="tx1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8159032" y="1688600"/>
        <a:ext cx="2639648" cy="1688600"/>
      </dsp:txXfrm>
    </dsp:sp>
    <dsp:sp modelId="{DA112F27-CA2B-4606-9A25-69079B8CD42D}">
      <dsp:nvSpPr>
        <dsp:cNvPr id="0" name=""/>
        <dsp:cNvSpPr/>
      </dsp:nvSpPr>
      <dsp:spPr>
        <a:xfrm>
          <a:off x="8775977" y="253290"/>
          <a:ext cx="1405759" cy="1405759"/>
        </a:xfrm>
        <a:prstGeom prst="ellipse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7000" r="-47000"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942BC0-4799-404A-A0FA-3A7B1DFA7175}">
      <dsp:nvSpPr>
        <dsp:cNvPr id="0" name=""/>
        <dsp:cNvSpPr/>
      </dsp:nvSpPr>
      <dsp:spPr>
        <a:xfrm>
          <a:off x="432047" y="3377200"/>
          <a:ext cx="9937104" cy="633225"/>
        </a:xfrm>
        <a:prstGeom prst="leftRightArrow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BA82C4-30E5-4171-B4CF-ECEACA621804}" type="datetimeFigureOut">
              <a:rPr lang="es-CO" smtClean="0"/>
              <a:t>19/01/2026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63DFF4-3800-4FAB-982D-4B535E00B06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08875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63DFF4-3800-4FAB-982D-4B535E00B06B}" type="slidenum">
              <a:rPr lang="es-CO" smtClean="0"/>
              <a:t>16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77477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5 Imagen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527381" y="2130426"/>
            <a:ext cx="10363200" cy="1470025"/>
          </a:xfrm>
        </p:spPr>
        <p:txBody>
          <a:bodyPr>
            <a:normAutofit/>
          </a:bodyPr>
          <a:lstStyle>
            <a:lvl1pPr algn="r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2351584" y="4149080"/>
            <a:ext cx="8534400" cy="1440160"/>
          </a:xfrm>
        </p:spPr>
        <p:txBody>
          <a:bodyPr>
            <a:norm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dirty="0"/>
              <a:t>Haga clic para modificar el estilo de subtítulo del patrón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837999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9 Imagen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1 Título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 algn="r">
              <a:defRPr sz="2400" b="1">
                <a:solidFill>
                  <a:srgbClr val="00558F"/>
                </a:solidFill>
              </a:defRPr>
            </a:lvl1pPr>
          </a:lstStyle>
          <a:p>
            <a:r>
              <a:rPr lang="es-ES" dirty="0"/>
              <a:t>Haga clic para modificar </a:t>
            </a:r>
            <a:br>
              <a:rPr lang="es-ES" dirty="0"/>
            </a:br>
            <a:r>
              <a:rPr lang="es-ES" dirty="0"/>
              <a:t>el estilo de título del patrón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FontTx/>
              <a:buNone/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281449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62AD22-70DE-4F13-9C0B-1BBB74E0E355}" type="datetimeFigureOut">
              <a:rPr lang="es-CO" smtClean="0"/>
              <a:t>19/01/2026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053072-CB0C-4590-8DB8-2DAFAD2DD70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93334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4547828" y="1988840"/>
            <a:ext cx="3132348" cy="792088"/>
          </a:xfrm>
        </p:spPr>
        <p:txBody>
          <a:bodyPr>
            <a:noAutofit/>
          </a:bodyPr>
          <a:lstStyle/>
          <a:p>
            <a:pPr algn="ctr">
              <a:lnSpc>
                <a:spcPts val="6000"/>
              </a:lnSpc>
              <a:spcAft>
                <a:spcPts val="1200"/>
              </a:spcAft>
            </a:pPr>
            <a:r>
              <a:rPr lang="es-ES" sz="4000" b="1" dirty="0">
                <a:latin typeface="Calibri" panose="020F0502020204030204" pitchFamily="34" charset="0"/>
                <a:cs typeface="Calibri" panose="020F0502020204030204" pitchFamily="34" charset="0"/>
              </a:rPr>
              <a:t>PRECÁLCULO</a:t>
            </a:r>
            <a:endParaRPr lang="es-CO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2 Subtítulo"/>
          <p:cNvSpPr txBox="1">
            <a:spLocks/>
          </p:cNvSpPr>
          <p:nvPr/>
        </p:nvSpPr>
        <p:spPr>
          <a:xfrm>
            <a:off x="5542584" y="3861048"/>
            <a:ext cx="6649416" cy="21602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2400" b="1" dirty="0">
                <a:latin typeface="Calibri" panose="020F0502020204030204" pitchFamily="34" charset="0"/>
                <a:cs typeface="Calibri" panose="020F0502020204030204" pitchFamily="34" charset="0"/>
              </a:rPr>
              <a:t>Profesora: </a:t>
            </a:r>
            <a:r>
              <a:rPr lang="es-ES_tradnl" sz="2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s-ES_tradnl" sz="22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loria Judith Flórez </a:t>
            </a:r>
          </a:p>
          <a:p>
            <a:pPr algn="l"/>
            <a:r>
              <a:rPr lang="es-ES_tradnl" sz="2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gloriaj.florez@utadeo.edu.co</a:t>
            </a:r>
            <a:endParaRPr lang="es-ES_tradnl" sz="22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1 Título"/>
          <p:cNvSpPr>
            <a:spLocks noGrp="1"/>
          </p:cNvSpPr>
          <p:nvPr>
            <p:ph type="ctrTitle"/>
          </p:nvPr>
        </p:nvSpPr>
        <p:spPr>
          <a:xfrm>
            <a:off x="3287688" y="116632"/>
            <a:ext cx="5544616" cy="936103"/>
          </a:xfrm>
        </p:spPr>
        <p:txBody>
          <a:bodyPr>
            <a:normAutofit fontScale="90000"/>
          </a:bodyPr>
          <a:lstStyle/>
          <a:p>
            <a:pPr algn="ctr"/>
            <a:r>
              <a:rPr lang="es-ES" sz="2200" dirty="0">
                <a:solidFill>
                  <a:srgbClr val="0070C0"/>
                </a:solidFill>
              </a:rPr>
              <a:t>Facultad de Ciencias Naturales e Ingeniería</a:t>
            </a:r>
            <a:br>
              <a:rPr lang="es-ES" sz="2200" dirty="0">
                <a:solidFill>
                  <a:srgbClr val="0070C0"/>
                </a:solidFill>
              </a:rPr>
            </a:br>
            <a:r>
              <a:rPr lang="es-ES" sz="2200" dirty="0">
                <a:solidFill>
                  <a:srgbClr val="0070C0"/>
                </a:solidFill>
              </a:rPr>
              <a:t>Área Académica de Ciencias Básicas y Modelado</a:t>
            </a:r>
            <a:endParaRPr lang="es-CO" sz="2200" dirty="0">
              <a:solidFill>
                <a:srgbClr val="0070C0"/>
              </a:solidFill>
            </a:endParaRPr>
          </a:p>
        </p:txBody>
      </p:sp>
      <p:sp>
        <p:nvSpPr>
          <p:cNvPr id="7" name="4 Rectángulo"/>
          <p:cNvSpPr/>
          <p:nvPr/>
        </p:nvSpPr>
        <p:spPr>
          <a:xfrm>
            <a:off x="4871864" y="6299560"/>
            <a:ext cx="15888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2400" b="1" dirty="0">
                <a:solidFill>
                  <a:schemeClr val="bg1"/>
                </a:solidFill>
              </a:rPr>
              <a:t>2026 – 1S</a:t>
            </a:r>
            <a:endParaRPr lang="es-CO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4565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3248010" y="260648"/>
            <a:ext cx="7168470" cy="648072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r>
              <a:rPr lang="es-CO" sz="3600" dirty="0">
                <a:latin typeface="Calibri" panose="020F0502020204030204" pitchFamily="34" charset="0"/>
                <a:cs typeface="Calibri" panose="020F0502020204030204" pitchFamily="34" charset="0"/>
              </a:rPr>
              <a:t>Contenidos a Desarrollar en el Curso</a:t>
            </a:r>
          </a:p>
        </p:txBody>
      </p:sp>
      <p:sp>
        <p:nvSpPr>
          <p:cNvPr id="5" name="2 Marcador de contenido"/>
          <p:cNvSpPr>
            <a:spLocks noGrp="1"/>
          </p:cNvSpPr>
          <p:nvPr>
            <p:ph idx="1"/>
          </p:nvPr>
        </p:nvSpPr>
        <p:spPr>
          <a:xfrm>
            <a:off x="191344" y="1268760"/>
            <a:ext cx="11809312" cy="5544616"/>
          </a:xfr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marL="176213"/>
            <a:r>
              <a:rPr lang="es-CO" sz="30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Corte 1</a:t>
            </a:r>
          </a:p>
          <a:p>
            <a:pPr marL="442913" lvl="1" indent="-261938">
              <a:spcAft>
                <a:spcPts val="1000"/>
              </a:spcAft>
            </a:pPr>
            <a:r>
              <a:rPr lang="es-CO" sz="28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Unidad 1</a:t>
            </a:r>
            <a:r>
              <a:rPr lang="es-CO" sz="28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Generalidades – Intervalos de Monotonía – Función Lineal – Funciones a Trozos – Transformaciones de Funciones – Operaciones con funciones – Composición de Funciones.  </a:t>
            </a:r>
          </a:p>
          <a:p>
            <a:pPr marL="176213"/>
            <a:r>
              <a:rPr lang="es-CO" sz="30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Corte 2</a:t>
            </a:r>
          </a:p>
          <a:p>
            <a:pPr marL="442913" lvl="1" indent="-261938">
              <a:spcAft>
                <a:spcPts val="1000"/>
              </a:spcAft>
            </a:pPr>
            <a:r>
              <a:rPr lang="es-CO" sz="28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Unidad 2</a:t>
            </a:r>
            <a:r>
              <a:rPr lang="es-CO" sz="28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Funciones Cuadráticas – </a:t>
            </a:r>
            <a:r>
              <a:rPr lang="es-CO" sz="2800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Polinomiales</a:t>
            </a:r>
            <a:r>
              <a:rPr lang="es-CO" sz="28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– Racionales. </a:t>
            </a:r>
            <a:r>
              <a:rPr lang="es-CO" sz="28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Unidad 3</a:t>
            </a:r>
            <a:r>
              <a:rPr lang="es-CO" sz="28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Funciones Uno a Uno y sus Inversas.</a:t>
            </a:r>
          </a:p>
          <a:p>
            <a:pPr marL="176213"/>
            <a:r>
              <a:rPr lang="es-CO" sz="30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Corte 3</a:t>
            </a:r>
          </a:p>
          <a:p>
            <a:pPr marL="442913" lvl="1" indent="-261938"/>
            <a:r>
              <a:rPr lang="es-CO" sz="28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Unidad 3</a:t>
            </a:r>
            <a:r>
              <a:rPr lang="es-CO" sz="28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Funciones Exponenciales – Interés Compuesto – Interés Compuesto Continuo – Aplicaciones – Función Logaritmo – Ecuaciones – Aplicaciones.</a:t>
            </a:r>
          </a:p>
        </p:txBody>
      </p:sp>
    </p:spTree>
    <p:extLst>
      <p:ext uri="{BB962C8B-B14F-4D97-AF65-F5344CB8AC3E}">
        <p14:creationId xmlns:p14="http://schemas.microsoft.com/office/powerpoint/2010/main" val="450402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9 Diagrama"/>
          <p:cNvGraphicFramePr/>
          <p:nvPr>
            <p:extLst>
              <p:ext uri="{D42A27DB-BD31-4B8C-83A1-F6EECF244321}">
                <p14:modId xmlns:p14="http://schemas.microsoft.com/office/powerpoint/2010/main" val="2610364016"/>
              </p:ext>
            </p:extLst>
          </p:nvPr>
        </p:nvGraphicFramePr>
        <p:xfrm>
          <a:off x="191344" y="1268760"/>
          <a:ext cx="11881320" cy="53285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1 Título">
            <a:extLst>
              <a:ext uri="{FF2B5EF4-FFF2-40B4-BE49-F238E27FC236}">
                <a16:creationId xmlns:a16="http://schemas.microsoft.com/office/drawing/2014/main" id="{570AA34F-9C00-49C6-87DA-F2D0CC0D8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800" y="260648"/>
            <a:ext cx="5112568" cy="648072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r>
              <a:rPr lang="es-CO" sz="3600" dirty="0">
                <a:latin typeface="Calibri" panose="020F0502020204030204" pitchFamily="34" charset="0"/>
                <a:cs typeface="Calibri" panose="020F0502020204030204" pitchFamily="34" charset="0"/>
              </a:rPr>
              <a:t>Desarrollo de las clases</a:t>
            </a:r>
          </a:p>
        </p:txBody>
      </p:sp>
    </p:spTree>
    <p:extLst>
      <p:ext uri="{BB962C8B-B14F-4D97-AF65-F5344CB8AC3E}">
        <p14:creationId xmlns:p14="http://schemas.microsoft.com/office/powerpoint/2010/main" val="553897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2 Marcador de contenido"/>
          <p:cNvSpPr>
            <a:spLocks noGrp="1"/>
          </p:cNvSpPr>
          <p:nvPr>
            <p:ph idx="1"/>
          </p:nvPr>
        </p:nvSpPr>
        <p:spPr>
          <a:xfrm>
            <a:off x="119336" y="1268760"/>
            <a:ext cx="12000656" cy="5400600"/>
          </a:xfr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marL="174625" lvl="1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s-ES" sz="28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 curso de Precálculo se desarrollará en las instalaciones de la Universidad, modalidad presencial, con apoyos tecnológicos.</a:t>
            </a:r>
          </a:p>
        </p:txBody>
      </p:sp>
      <p:sp>
        <p:nvSpPr>
          <p:cNvPr id="6" name="1 Título">
            <a:extLst>
              <a:ext uri="{FF2B5EF4-FFF2-40B4-BE49-F238E27FC236}">
                <a16:creationId xmlns:a16="http://schemas.microsoft.com/office/drawing/2014/main" id="{2050FE5F-C90B-4F3A-899F-492715AB8530}"/>
              </a:ext>
            </a:extLst>
          </p:cNvPr>
          <p:cNvSpPr txBox="1">
            <a:spLocks/>
          </p:cNvSpPr>
          <p:nvPr/>
        </p:nvSpPr>
        <p:spPr>
          <a:xfrm>
            <a:off x="3071664" y="260648"/>
            <a:ext cx="7506834" cy="57606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00558F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3600" dirty="0">
                <a:latin typeface="Calibri" panose="020F0502020204030204" pitchFamily="34" charset="0"/>
                <a:cs typeface="Calibri" panose="020F0502020204030204" pitchFamily="34" charset="0"/>
              </a:rPr>
              <a:t>Generalidades del curso de Precálculo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2481B9C3-5A57-4C9E-89B0-5BD17E3C7C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27664926"/>
              </p:ext>
            </p:extLst>
          </p:nvPr>
        </p:nvGraphicFramePr>
        <p:xfrm>
          <a:off x="695400" y="2303843"/>
          <a:ext cx="10801200" cy="42215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86391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  <p:bldGraphic spid="4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5735960" y="260648"/>
            <a:ext cx="2195736" cy="72008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r>
              <a:rPr lang="es-CO" sz="3600" dirty="0">
                <a:latin typeface="Calibri" panose="020F0502020204030204" pitchFamily="34" charset="0"/>
                <a:cs typeface="Calibri" panose="020F0502020204030204" pitchFamily="34" charset="0"/>
              </a:rPr>
              <a:t>Objetivos </a:t>
            </a:r>
          </a:p>
        </p:txBody>
      </p:sp>
      <p:sp>
        <p:nvSpPr>
          <p:cNvPr id="5" name="2 Marcador de contenido"/>
          <p:cNvSpPr>
            <a:spLocks noGrp="1"/>
          </p:cNvSpPr>
          <p:nvPr>
            <p:ph idx="1"/>
          </p:nvPr>
        </p:nvSpPr>
        <p:spPr>
          <a:xfrm>
            <a:off x="191344" y="1268760"/>
            <a:ext cx="11809312" cy="5400600"/>
          </a:xfr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marL="342900" indent="-342900">
              <a:lnSpc>
                <a:spcPts val="3500"/>
              </a:lnSpc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s-CO" sz="28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Apropiar el uso del lenguaje y la modelación matemática en el campo de las funciones.</a:t>
            </a:r>
          </a:p>
          <a:p>
            <a:pPr marL="342900" indent="-342900">
              <a:lnSpc>
                <a:spcPts val="3500"/>
              </a:lnSpc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s-CO" sz="28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Identificar y utilizar el concepto de función como relación particular entre variables.</a:t>
            </a:r>
          </a:p>
          <a:p>
            <a:pPr marL="342900" indent="-342900">
              <a:lnSpc>
                <a:spcPts val="3500"/>
              </a:lnSpc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s-CO" sz="28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Aplicar el concepto de función en la construcción e identificación de modelos matemáticos que describen diferentes tipos de crecimiento.</a:t>
            </a:r>
            <a:endParaRPr lang="es-CO" sz="2800" dirty="0">
              <a:solidFill>
                <a:srgbClr val="002060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8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Resolver problemas de aplicación de los diferentes tipos de funciones para describir fenómenos o procesos.</a:t>
            </a:r>
          </a:p>
        </p:txBody>
      </p:sp>
    </p:spTree>
    <p:extLst>
      <p:ext uri="{BB962C8B-B14F-4D97-AF65-F5344CB8AC3E}">
        <p14:creationId xmlns:p14="http://schemas.microsoft.com/office/powerpoint/2010/main" val="2127814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27848" y="260648"/>
            <a:ext cx="4176464" cy="648072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r>
              <a:rPr lang="es-CO" sz="3600" dirty="0">
                <a:latin typeface="Calibri" panose="020F0502020204030204" pitchFamily="34" charset="0"/>
                <a:cs typeface="Calibri" panose="020F0502020204030204" pitchFamily="34" charset="0"/>
              </a:rPr>
              <a:t>Contenidos corte 1</a:t>
            </a:r>
          </a:p>
        </p:txBody>
      </p:sp>
      <p:sp>
        <p:nvSpPr>
          <p:cNvPr id="5" name="2 Marcador de contenido"/>
          <p:cNvSpPr>
            <a:spLocks noGrp="1"/>
          </p:cNvSpPr>
          <p:nvPr>
            <p:ph idx="1"/>
          </p:nvPr>
        </p:nvSpPr>
        <p:spPr>
          <a:xfrm>
            <a:off x="191344" y="1268760"/>
            <a:ext cx="11809312" cy="5472608"/>
          </a:xfr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marL="722313" indent="-369888"/>
            <a:r>
              <a:rPr lang="es-CO" sz="26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Semana 1 </a:t>
            </a:r>
          </a:p>
          <a:p>
            <a:pPr marL="722313" lvl="1" indent="-369888">
              <a:spcAft>
                <a:spcPts val="600"/>
              </a:spcAft>
            </a:pPr>
            <a:r>
              <a:rPr lang="es-CO" sz="2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Presentación del curso – Generalidades de la función.</a:t>
            </a:r>
          </a:p>
          <a:p>
            <a:pPr marL="722313" indent="-369888"/>
            <a:r>
              <a:rPr lang="es-CO" sz="26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Semana 2</a:t>
            </a:r>
          </a:p>
          <a:p>
            <a:pPr marL="722313" lvl="1" indent="-369888">
              <a:spcAft>
                <a:spcPts val="600"/>
              </a:spcAft>
            </a:pPr>
            <a:r>
              <a:rPr lang="es-CO" sz="2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Intervalos de monotonía de la función – Función lineal.</a:t>
            </a:r>
          </a:p>
          <a:p>
            <a:pPr marL="722313" indent="-369888"/>
            <a:r>
              <a:rPr lang="es-CO" sz="26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Semana 3 </a:t>
            </a:r>
          </a:p>
          <a:p>
            <a:pPr marL="722313" lvl="1" indent="-369888">
              <a:spcAft>
                <a:spcPts val="600"/>
              </a:spcAft>
            </a:pPr>
            <a:r>
              <a:rPr lang="es-CO" sz="2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Funciones a trozos.</a:t>
            </a:r>
          </a:p>
          <a:p>
            <a:pPr marL="722313" indent="-369888"/>
            <a:r>
              <a:rPr lang="es-CO" sz="26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Semana 4 </a:t>
            </a:r>
          </a:p>
          <a:p>
            <a:pPr marL="722313" lvl="1" indent="-369888">
              <a:spcAft>
                <a:spcPts val="600"/>
              </a:spcAft>
            </a:pPr>
            <a:r>
              <a:rPr lang="es-CO" sz="2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Transformaciones de Funciones.</a:t>
            </a:r>
          </a:p>
          <a:p>
            <a:pPr marL="722313" lvl="1" indent="-369888">
              <a:buNone/>
            </a:pPr>
            <a:r>
              <a:rPr lang="es-CO" sz="26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Semana 5 </a:t>
            </a:r>
          </a:p>
          <a:p>
            <a:pPr marL="722313" lvl="1" indent="-368300"/>
            <a:r>
              <a:rPr lang="es-CO" sz="2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Operaciones con Funciones – Composición de Funciones</a:t>
            </a:r>
          </a:p>
        </p:txBody>
      </p:sp>
    </p:spTree>
    <p:extLst>
      <p:ext uri="{BB962C8B-B14F-4D97-AF65-F5344CB8AC3E}">
        <p14:creationId xmlns:p14="http://schemas.microsoft.com/office/powerpoint/2010/main" val="3956601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27848" y="260648"/>
            <a:ext cx="4176464" cy="648072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r>
              <a:rPr lang="es-CO" sz="3600" dirty="0">
                <a:latin typeface="Calibri" panose="020F0502020204030204" pitchFamily="34" charset="0"/>
                <a:cs typeface="Calibri" panose="020F0502020204030204" pitchFamily="34" charset="0"/>
              </a:rPr>
              <a:t>Contenidos corte 2</a:t>
            </a:r>
          </a:p>
        </p:txBody>
      </p:sp>
      <p:sp>
        <p:nvSpPr>
          <p:cNvPr id="5" name="2 Marcador de contenido"/>
          <p:cNvSpPr>
            <a:spLocks noGrp="1"/>
          </p:cNvSpPr>
          <p:nvPr>
            <p:ph idx="1"/>
          </p:nvPr>
        </p:nvSpPr>
        <p:spPr>
          <a:xfrm>
            <a:off x="191344" y="1279928"/>
            <a:ext cx="11809312" cy="5461440"/>
          </a:xfr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marL="722313" indent="-368300"/>
            <a:r>
              <a:rPr lang="es-CO" sz="26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Semana 6 </a:t>
            </a:r>
          </a:p>
          <a:p>
            <a:pPr marL="722313" lvl="1" indent="-368300">
              <a:spcAft>
                <a:spcPts val="600"/>
              </a:spcAft>
            </a:pPr>
            <a:r>
              <a:rPr lang="es-CO" sz="2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Funciones Cuadráticas: Generalidades – Problemas de Aplicación.</a:t>
            </a:r>
          </a:p>
          <a:p>
            <a:pPr marL="722313" indent="-368300"/>
            <a:r>
              <a:rPr lang="es-CO" sz="26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Semana 7 </a:t>
            </a:r>
          </a:p>
          <a:p>
            <a:pPr marL="722313" lvl="1" indent="-368300">
              <a:spcAft>
                <a:spcPts val="600"/>
              </a:spcAft>
            </a:pPr>
            <a:r>
              <a:rPr lang="es-CO" sz="2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Funciones Cuadráticas: Problemas de Aplicación.</a:t>
            </a:r>
          </a:p>
          <a:p>
            <a:pPr marL="722313" indent="-368300"/>
            <a:r>
              <a:rPr lang="es-CO" sz="26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Semana 8 </a:t>
            </a:r>
          </a:p>
          <a:p>
            <a:pPr marL="722313" lvl="1" indent="-368300">
              <a:spcAft>
                <a:spcPts val="600"/>
              </a:spcAft>
            </a:pPr>
            <a:r>
              <a:rPr lang="es-CO" sz="2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Funciones Polinomiales.</a:t>
            </a:r>
          </a:p>
          <a:p>
            <a:pPr marL="722313" indent="-368300"/>
            <a:r>
              <a:rPr lang="es-CO" sz="26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Semana 9 </a:t>
            </a:r>
          </a:p>
          <a:p>
            <a:pPr marL="722313" lvl="1" indent="-368300">
              <a:spcAft>
                <a:spcPts val="600"/>
              </a:spcAft>
            </a:pPr>
            <a:r>
              <a:rPr lang="es-CO" sz="2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Funciones Racionales.</a:t>
            </a:r>
          </a:p>
          <a:p>
            <a:pPr marL="722313" lvl="1" indent="-368300">
              <a:buNone/>
            </a:pPr>
            <a:r>
              <a:rPr lang="es-CO" sz="26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Semana 10 </a:t>
            </a:r>
          </a:p>
          <a:p>
            <a:pPr marL="722313" lvl="1" indent="-368300"/>
            <a:r>
              <a:rPr lang="es-CO" sz="2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Funciones Uno a Uno y sus Inversas.</a:t>
            </a:r>
            <a:endParaRPr lang="es-CO" sz="2600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2872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27848" y="260648"/>
            <a:ext cx="4176464" cy="648072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r>
              <a:rPr lang="es-CO" sz="3600" dirty="0">
                <a:latin typeface="Calibri" panose="020F0502020204030204" pitchFamily="34" charset="0"/>
                <a:cs typeface="Calibri" panose="020F0502020204030204" pitchFamily="34" charset="0"/>
              </a:rPr>
              <a:t>Contenidos corte 3</a:t>
            </a:r>
          </a:p>
        </p:txBody>
      </p:sp>
      <p:sp>
        <p:nvSpPr>
          <p:cNvPr id="5" name="2 Marcador de contenido"/>
          <p:cNvSpPr>
            <a:spLocks noGrp="1"/>
          </p:cNvSpPr>
          <p:nvPr>
            <p:ph idx="1"/>
          </p:nvPr>
        </p:nvSpPr>
        <p:spPr>
          <a:xfrm>
            <a:off x="191344" y="1268760"/>
            <a:ext cx="11809312" cy="5499992"/>
          </a:xfr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marL="722313" indent="-368300">
              <a:spcBef>
                <a:spcPts val="0"/>
              </a:spcBef>
              <a:spcAft>
                <a:spcPts val="500"/>
              </a:spcAft>
            </a:pPr>
            <a:r>
              <a:rPr lang="es-CO" sz="24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Semana 11 </a:t>
            </a:r>
          </a:p>
          <a:p>
            <a:pPr marL="722313" lvl="1" indent="-368300">
              <a:spcBef>
                <a:spcPts val="0"/>
              </a:spcBef>
              <a:spcAft>
                <a:spcPts val="500"/>
              </a:spcAft>
            </a:pPr>
            <a:r>
              <a:rPr lang="es-CO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Funciones Exponenciales – Interés Compuesto – Interés Compuesto Continuo.</a:t>
            </a:r>
            <a:endParaRPr lang="es-CO" sz="2400" dirty="0">
              <a:solidFill>
                <a:srgbClr val="002060"/>
              </a:solidFill>
              <a:latin typeface="Calibri" panose="020F0502020204030204" pitchFamily="34" charset="0"/>
              <a:ea typeface="Segoe UI" panose="020B0502040204020203" pitchFamily="34" charset="0"/>
              <a:cs typeface="Calibri" panose="020F0502020204030204" pitchFamily="34" charset="0"/>
            </a:endParaRPr>
          </a:p>
          <a:p>
            <a:pPr marL="722313" indent="-368300">
              <a:spcBef>
                <a:spcPts val="0"/>
              </a:spcBef>
              <a:spcAft>
                <a:spcPts val="500"/>
              </a:spcAft>
              <a:tabLst>
                <a:tab pos="263525" algn="l"/>
              </a:tabLst>
            </a:pPr>
            <a:r>
              <a:rPr lang="es-CO" sz="24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Semana 12 </a:t>
            </a:r>
          </a:p>
          <a:p>
            <a:pPr marL="722313" lvl="1" indent="-368300">
              <a:spcBef>
                <a:spcPts val="0"/>
              </a:spcBef>
              <a:spcAft>
                <a:spcPts val="500"/>
              </a:spcAft>
            </a:pPr>
            <a:r>
              <a:rPr lang="es-CO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Aplicaciones de la función exponencial: Dinámica de Poblaciones – Desintegración Radiactiva.</a:t>
            </a:r>
          </a:p>
          <a:p>
            <a:pPr marL="722313" indent="-368300">
              <a:spcBef>
                <a:spcPts val="0"/>
              </a:spcBef>
              <a:spcAft>
                <a:spcPts val="500"/>
              </a:spcAft>
              <a:tabLst>
                <a:tab pos="263525" algn="l"/>
              </a:tabLst>
            </a:pPr>
            <a:r>
              <a:rPr lang="es-CO" sz="24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Semana 13 </a:t>
            </a:r>
          </a:p>
          <a:p>
            <a:pPr marL="722313" lvl="1" indent="-368300">
              <a:spcBef>
                <a:spcPts val="0"/>
              </a:spcBef>
              <a:spcAft>
                <a:spcPts val="500"/>
              </a:spcAft>
            </a:pPr>
            <a:r>
              <a:rPr lang="es-CO" sz="2400" dirty="0">
                <a:solidFill>
                  <a:srgbClr val="002060"/>
                </a:solidFill>
                <a:latin typeface="Calibri" panose="020F0502020204030204" pitchFamily="34" charset="0"/>
                <a:ea typeface="Segoe UI" panose="020B0502040204020203" pitchFamily="34" charset="0"/>
                <a:cs typeface="Calibri" panose="020F0502020204030204" pitchFamily="34" charset="0"/>
              </a:rPr>
              <a:t>Logaritmos – Función Logaritmo</a:t>
            </a:r>
            <a:r>
              <a:rPr lang="es-CO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722313" lvl="1" indent="-368300">
              <a:spcBef>
                <a:spcPts val="0"/>
              </a:spcBef>
              <a:spcAft>
                <a:spcPts val="500"/>
              </a:spcAft>
              <a:buNone/>
              <a:tabLst>
                <a:tab pos="263525" algn="l"/>
              </a:tabLst>
            </a:pPr>
            <a:r>
              <a:rPr lang="es-CO" sz="24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Semana 14 </a:t>
            </a:r>
          </a:p>
          <a:p>
            <a:pPr marL="722313" lvl="1" indent="-368300">
              <a:spcBef>
                <a:spcPts val="0"/>
              </a:spcBef>
              <a:spcAft>
                <a:spcPts val="500"/>
              </a:spcAft>
            </a:pPr>
            <a:r>
              <a:rPr lang="es-CO" sz="2400" dirty="0">
                <a:solidFill>
                  <a:srgbClr val="002060"/>
                </a:solidFill>
                <a:latin typeface="Calibri" panose="020F0502020204030204" pitchFamily="34" charset="0"/>
                <a:ea typeface="Segoe UI" panose="020B0502040204020203" pitchFamily="34" charset="0"/>
                <a:cs typeface="Calibri" panose="020F0502020204030204" pitchFamily="34" charset="0"/>
              </a:rPr>
              <a:t>Ecuaciones Exponenciales y Logarítmicas</a:t>
            </a:r>
            <a:endParaRPr lang="es-CO" sz="24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22313" lvl="1" indent="-368300">
              <a:spcBef>
                <a:spcPts val="0"/>
              </a:spcBef>
              <a:spcAft>
                <a:spcPts val="500"/>
              </a:spcAft>
              <a:buNone/>
            </a:pPr>
            <a:r>
              <a:rPr lang="es-CO" sz="24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Semana 15 </a:t>
            </a:r>
          </a:p>
          <a:p>
            <a:pPr marL="722313" lvl="1" indent="-368300">
              <a:spcBef>
                <a:spcPts val="0"/>
              </a:spcBef>
              <a:spcAft>
                <a:spcPts val="500"/>
              </a:spcAft>
            </a:pPr>
            <a:r>
              <a:rPr lang="es-CO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Otros modelos con Funciones Exponenciales y Logarítmicas.</a:t>
            </a:r>
          </a:p>
          <a:p>
            <a:pPr marL="722313" lvl="1" indent="-368300">
              <a:spcBef>
                <a:spcPts val="0"/>
              </a:spcBef>
              <a:spcAft>
                <a:spcPts val="500"/>
              </a:spcAft>
              <a:buNone/>
            </a:pPr>
            <a:r>
              <a:rPr lang="es-CO" sz="24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Semana 16</a:t>
            </a:r>
          </a:p>
          <a:p>
            <a:pPr marL="722313" lvl="1" indent="-368300">
              <a:spcBef>
                <a:spcPts val="0"/>
              </a:spcBef>
              <a:spcAft>
                <a:spcPts val="300"/>
              </a:spcAft>
            </a:pPr>
            <a:r>
              <a:rPr lang="es-CO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Revisión temas del examen – Examen final y entrega de notas.</a:t>
            </a:r>
          </a:p>
        </p:txBody>
      </p:sp>
    </p:spTree>
    <p:extLst>
      <p:ext uri="{BB962C8B-B14F-4D97-AF65-F5344CB8AC3E}">
        <p14:creationId xmlns:p14="http://schemas.microsoft.com/office/powerpoint/2010/main" val="4062896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2 Marcador de contenido"/>
          <p:cNvSpPr>
            <a:spLocks noGrp="1"/>
          </p:cNvSpPr>
          <p:nvPr>
            <p:ph idx="1"/>
          </p:nvPr>
        </p:nvSpPr>
        <p:spPr>
          <a:xfrm>
            <a:off x="174156" y="1340768"/>
            <a:ext cx="12000656" cy="5427984"/>
          </a:xfr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marL="530225" lvl="1" indent="-355600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s-ES" sz="2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 curso se divide en tres cortes </a:t>
            </a:r>
            <a:r>
              <a:rPr lang="es-ES" sz="26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cada uno tiene un valor del 33.33%</a:t>
            </a:r>
            <a:r>
              <a:rPr lang="es-ES" sz="2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s-CO" sz="26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30225" lvl="1" indent="-355600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s-CO" sz="2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Las sesiones </a:t>
            </a:r>
            <a:r>
              <a:rPr lang="es-CO" sz="26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serán presenciales </a:t>
            </a:r>
            <a:r>
              <a:rPr lang="es-CO" sz="2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 el horario de clase y en el salón asignado en las instalaciones de la Universidad.</a:t>
            </a:r>
          </a:p>
          <a:p>
            <a:pPr marL="530225" lvl="1" indent="-355600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s-CO" sz="2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 </a:t>
            </a:r>
            <a:r>
              <a:rPr lang="es-CO" sz="26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texto guía </a:t>
            </a:r>
            <a:r>
              <a:rPr lang="es-CO" sz="2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 fundamental para el trabajo de Precálculo.</a:t>
            </a:r>
          </a:p>
          <a:p>
            <a:pPr marL="530225" lvl="1" indent="-355600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s-CO" sz="2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 </a:t>
            </a:r>
            <a:r>
              <a:rPr lang="es-CO" sz="2600" b="1" dirty="0" err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Avata</a:t>
            </a:r>
            <a:r>
              <a:rPr lang="es-CO" sz="26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grupo 00</a:t>
            </a:r>
            <a:r>
              <a:rPr lang="es-CO" sz="2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se encuentra el </a:t>
            </a:r>
            <a:r>
              <a:rPr lang="es-CO" sz="26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material de cada una de las secciones </a:t>
            </a:r>
            <a:r>
              <a:rPr lang="es-CO" sz="2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que se van a trabajar, incluidos contenidos explicados, ejercicios y problemas resueltos, y ejercicios propuestos. </a:t>
            </a:r>
          </a:p>
          <a:p>
            <a:pPr marL="530225" lvl="1" indent="-355600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s-CO" sz="26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Preparación de las clases </a:t>
            </a:r>
            <a:r>
              <a:rPr lang="es-CO" sz="2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por parte de los estudiantes (lectura y realización de ejercicios). Desarrollo de las clases atendiendo a refuerzo de los contenidos y acompañamiento a los estudiantes en la realización de los ejercicios y solución de dudas.</a:t>
            </a:r>
          </a:p>
        </p:txBody>
      </p:sp>
      <p:sp>
        <p:nvSpPr>
          <p:cNvPr id="6" name="1 Título">
            <a:extLst>
              <a:ext uri="{FF2B5EF4-FFF2-40B4-BE49-F238E27FC236}">
                <a16:creationId xmlns:a16="http://schemas.microsoft.com/office/drawing/2014/main" id="{2050FE5F-C90B-4F3A-899F-492715AB8530}"/>
              </a:ext>
            </a:extLst>
          </p:cNvPr>
          <p:cNvSpPr txBox="1">
            <a:spLocks/>
          </p:cNvSpPr>
          <p:nvPr/>
        </p:nvSpPr>
        <p:spPr>
          <a:xfrm>
            <a:off x="3071664" y="260648"/>
            <a:ext cx="7506834" cy="57606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00558F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3600" dirty="0">
                <a:latin typeface="Calibri" panose="020F0502020204030204" pitchFamily="34" charset="0"/>
                <a:cs typeface="Calibri" panose="020F0502020204030204" pitchFamily="34" charset="0"/>
              </a:rPr>
              <a:t>Generalidades del curso de Precálculo</a:t>
            </a:r>
          </a:p>
        </p:txBody>
      </p:sp>
    </p:spTree>
    <p:extLst>
      <p:ext uri="{BB962C8B-B14F-4D97-AF65-F5344CB8AC3E}">
        <p14:creationId xmlns:p14="http://schemas.microsoft.com/office/powerpoint/2010/main" val="1715304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2 Marcador de contenido"/>
          <p:cNvSpPr>
            <a:spLocks noGrp="1"/>
          </p:cNvSpPr>
          <p:nvPr>
            <p:ph idx="1"/>
          </p:nvPr>
        </p:nvSpPr>
        <p:spPr>
          <a:xfrm>
            <a:off x="119336" y="1268760"/>
            <a:ext cx="12000656" cy="5400600"/>
          </a:xfr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marL="542925" indent="-36830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s-CO" sz="28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Evaluación de cada corte:</a:t>
            </a:r>
          </a:p>
          <a:p>
            <a:pPr marL="542925">
              <a:spcAft>
                <a:spcPts val="1200"/>
              </a:spcAft>
            </a:pPr>
            <a:r>
              <a:rPr lang="es-CO" sz="28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40%</a:t>
            </a:r>
            <a:r>
              <a:rPr lang="es-CO" sz="28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Parcial.</a:t>
            </a:r>
          </a:p>
          <a:p>
            <a:pPr marL="542925">
              <a:spcAft>
                <a:spcPts val="1200"/>
              </a:spcAft>
            </a:pPr>
            <a:r>
              <a:rPr lang="es-CO" sz="28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20%</a:t>
            </a:r>
            <a:r>
              <a:rPr lang="es-CO" sz="28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un quiz. </a:t>
            </a:r>
          </a:p>
          <a:p>
            <a:pPr marL="542925">
              <a:spcAft>
                <a:spcPts val="1200"/>
              </a:spcAft>
            </a:pPr>
            <a:r>
              <a:rPr lang="es-CO" sz="28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20%</a:t>
            </a:r>
            <a:r>
              <a:rPr lang="es-CO" sz="28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evaluaciones cortas (AVATA)-Trabajos y/o talleres.</a:t>
            </a:r>
          </a:p>
          <a:p>
            <a:pPr marL="542925">
              <a:spcAft>
                <a:spcPts val="1200"/>
              </a:spcAft>
            </a:pPr>
            <a:r>
              <a:rPr lang="es-CO" sz="28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20%</a:t>
            </a:r>
            <a:r>
              <a:rPr lang="es-CO" sz="28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links de Khan </a:t>
            </a:r>
            <a:r>
              <a:rPr lang="es-CO" sz="2800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Academy</a:t>
            </a:r>
            <a:r>
              <a:rPr lang="es-CO" sz="28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542925" indent="-36830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s-CO" sz="28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Apoyo con Tutorías y Monitorias. Horario en </a:t>
            </a:r>
            <a:r>
              <a:rPr lang="es-CO" sz="2800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Avata</a:t>
            </a:r>
            <a:r>
              <a:rPr lang="es-CO" sz="28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no hay que pedir cita y se consultan las dudas que tengan.</a:t>
            </a:r>
          </a:p>
          <a:p>
            <a:pPr marL="542925" indent="-36830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s-CO" sz="28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 asistencia a las clases en la universidad le permite tener mayor claridad en los temas que se tratan.</a:t>
            </a:r>
          </a:p>
          <a:p>
            <a:pPr marL="542925" indent="-368300">
              <a:spcAft>
                <a:spcPts val="600"/>
              </a:spcAft>
              <a:buFont typeface="Wingdings" panose="05000000000000000000" pitchFamily="2" charset="2"/>
              <a:buChar char="ü"/>
            </a:pPr>
            <a:endParaRPr lang="es-CO" sz="28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1 Título">
            <a:extLst>
              <a:ext uri="{FF2B5EF4-FFF2-40B4-BE49-F238E27FC236}">
                <a16:creationId xmlns:a16="http://schemas.microsoft.com/office/drawing/2014/main" id="{2050FE5F-C90B-4F3A-899F-492715AB8530}"/>
              </a:ext>
            </a:extLst>
          </p:cNvPr>
          <p:cNvSpPr txBox="1">
            <a:spLocks/>
          </p:cNvSpPr>
          <p:nvPr/>
        </p:nvSpPr>
        <p:spPr>
          <a:xfrm>
            <a:off x="3269686" y="260648"/>
            <a:ext cx="7506834" cy="57606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00558F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3600">
                <a:latin typeface="Calibri" panose="020F0502020204030204" pitchFamily="34" charset="0"/>
                <a:cs typeface="Calibri" panose="020F0502020204030204" pitchFamily="34" charset="0"/>
              </a:rPr>
              <a:t>Generalidades del curso de Precálculo</a:t>
            </a:r>
            <a:endParaRPr lang="es-CO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5384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2 Marcador de contenido"/>
          <p:cNvSpPr>
            <a:spLocks noGrp="1"/>
          </p:cNvSpPr>
          <p:nvPr>
            <p:ph idx="1"/>
          </p:nvPr>
        </p:nvSpPr>
        <p:spPr>
          <a:xfrm>
            <a:off x="227348" y="1268760"/>
            <a:ext cx="11737304" cy="5112568"/>
          </a:xfr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es-MX" sz="2400" dirty="0">
                <a:solidFill>
                  <a:schemeClr val="tx1"/>
                </a:solidFill>
              </a:rPr>
              <a:t>Calendario académico y organización de la evaluación: Con el fin de facilitar su organización a lo largo del semestre, les compartimos a continuación las fechas más relevantes del calendario académico y la forma en que se estructura la evaluación del curso. </a:t>
            </a:r>
          </a:p>
          <a:p>
            <a:r>
              <a:rPr lang="es-CO" sz="2400" dirty="0">
                <a:solidFill>
                  <a:schemeClr val="tx1"/>
                </a:solidFill>
              </a:rPr>
              <a:t>Fechas clave del semestre: </a:t>
            </a:r>
          </a:p>
          <a:p>
            <a:r>
              <a:rPr lang="es-MX" sz="2400" dirty="0">
                <a:solidFill>
                  <a:schemeClr val="tx1"/>
                </a:solidFill>
              </a:rPr>
              <a:t>Inicio de clases: lunes, 19 de enero de 2026 </a:t>
            </a:r>
          </a:p>
          <a:p>
            <a:r>
              <a:rPr lang="es-MX" sz="2400" dirty="0">
                <a:solidFill>
                  <a:schemeClr val="tx1"/>
                </a:solidFill>
              </a:rPr>
              <a:t>Registro de notas – Primer corte: del miércoles 18 al martes 24 de febrero de 2026 </a:t>
            </a:r>
          </a:p>
          <a:p>
            <a:r>
              <a:rPr lang="es-CO" sz="2400" dirty="0">
                <a:solidFill>
                  <a:schemeClr val="tx1"/>
                </a:solidFill>
              </a:rPr>
              <a:t>Registro de notas – Segundo corte: del miércoles 1 al jueves 9 de abril de 2026 </a:t>
            </a:r>
          </a:p>
          <a:p>
            <a:r>
              <a:rPr lang="es-MX" sz="2400" dirty="0">
                <a:solidFill>
                  <a:schemeClr val="tx1"/>
                </a:solidFill>
              </a:rPr>
              <a:t>Receso académico: del lunes 30 de marzo al sábado 4 de abril de 2026 </a:t>
            </a:r>
          </a:p>
          <a:p>
            <a:r>
              <a:rPr lang="es-MX" sz="2400" dirty="0">
                <a:solidFill>
                  <a:schemeClr val="tx1"/>
                </a:solidFill>
              </a:rPr>
              <a:t>Registro de notas – Tercer corte: del miércoles 6 al jueves 14 de mayo de 2026 </a:t>
            </a:r>
          </a:p>
          <a:p>
            <a:r>
              <a:rPr lang="es-MX" sz="2400" dirty="0">
                <a:solidFill>
                  <a:schemeClr val="tx1"/>
                </a:solidFill>
              </a:rPr>
              <a:t>Finalización de clases: sábado, 16 de mayo de 2026 </a:t>
            </a:r>
          </a:p>
          <a:p>
            <a:endParaRPr lang="es-CO" dirty="0"/>
          </a:p>
        </p:txBody>
      </p:sp>
      <p:sp>
        <p:nvSpPr>
          <p:cNvPr id="6" name="1 Título">
            <a:extLst>
              <a:ext uri="{FF2B5EF4-FFF2-40B4-BE49-F238E27FC236}">
                <a16:creationId xmlns:a16="http://schemas.microsoft.com/office/drawing/2014/main" id="{2050FE5F-C90B-4F3A-899F-492715AB8530}"/>
              </a:ext>
            </a:extLst>
          </p:cNvPr>
          <p:cNvSpPr txBox="1">
            <a:spLocks/>
          </p:cNvSpPr>
          <p:nvPr/>
        </p:nvSpPr>
        <p:spPr>
          <a:xfrm>
            <a:off x="3575720" y="332656"/>
            <a:ext cx="6552728" cy="6480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00558F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3600" dirty="0">
                <a:latin typeface="Calibri" panose="020F0502020204030204" pitchFamily="34" charset="0"/>
                <a:cs typeface="Calibri" panose="020F0502020204030204" pitchFamily="34" charset="0"/>
              </a:rPr>
              <a:t>Calendario Académico – 2026-1S</a:t>
            </a:r>
          </a:p>
        </p:txBody>
      </p:sp>
    </p:spTree>
    <p:extLst>
      <p:ext uri="{BB962C8B-B14F-4D97-AF65-F5344CB8AC3E}">
        <p14:creationId xmlns:p14="http://schemas.microsoft.com/office/powerpoint/2010/main" val="3702611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0D595-FE20-B8A3-FAB9-10CC906AB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2 Marcador de contenido">
            <a:extLst>
              <a:ext uri="{FF2B5EF4-FFF2-40B4-BE49-F238E27FC236}">
                <a16:creationId xmlns:a16="http://schemas.microsoft.com/office/drawing/2014/main" id="{8F84A81A-676A-12F1-E035-28E81FE29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348" y="1268760"/>
            <a:ext cx="11737304" cy="5112568"/>
          </a:xfr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es-CO" sz="2800" dirty="0">
                <a:solidFill>
                  <a:schemeClr val="tx1"/>
                </a:solidFill>
              </a:rPr>
              <a:t>Días festivos: </a:t>
            </a:r>
          </a:p>
          <a:p>
            <a:r>
              <a:rPr lang="es-MX" sz="2800" dirty="0">
                <a:solidFill>
                  <a:schemeClr val="tx1"/>
                </a:solidFill>
              </a:rPr>
              <a:t>Lunes 23 de marzo de 2026 (San José) </a:t>
            </a:r>
          </a:p>
          <a:p>
            <a:r>
              <a:rPr lang="es-CO" sz="2800" dirty="0">
                <a:solidFill>
                  <a:schemeClr val="tx1"/>
                </a:solidFill>
              </a:rPr>
              <a:t>Jueves 2 de abril de 2026 (Jueves Santo) </a:t>
            </a:r>
          </a:p>
          <a:p>
            <a:r>
              <a:rPr lang="es-CO" sz="2800" dirty="0">
                <a:solidFill>
                  <a:schemeClr val="tx1"/>
                </a:solidFill>
              </a:rPr>
              <a:t>Viernes 3 de abril de 2026 (Viernes Santo) </a:t>
            </a:r>
          </a:p>
          <a:p>
            <a:r>
              <a:rPr lang="es-MX" sz="2800" dirty="0">
                <a:solidFill>
                  <a:schemeClr val="tx1"/>
                </a:solidFill>
              </a:rPr>
              <a:t>Viernes 1 de mayo de 2026 (Día del Trabajo) </a:t>
            </a:r>
          </a:p>
          <a:p>
            <a:endParaRPr lang="es-CO" sz="2800" dirty="0">
              <a:solidFill>
                <a:schemeClr val="tx1"/>
              </a:solidFill>
            </a:endParaRPr>
          </a:p>
          <a:p>
            <a:r>
              <a:rPr lang="es-MX" sz="2800" dirty="0">
                <a:solidFill>
                  <a:schemeClr val="tx1"/>
                </a:solidFill>
              </a:rPr>
              <a:t>El calendario académico completo de la universidad puede consultarse en el siguiente enlace: https://www.utadeo.edu.co/es/calendario-academico </a:t>
            </a:r>
            <a:endParaRPr lang="es-CO" sz="2800" dirty="0">
              <a:solidFill>
                <a:schemeClr val="tx1"/>
              </a:solidFill>
              <a:latin typeface="Calibri" panose="020F0502020204030204" pitchFamily="34" charset="0"/>
              <a:ea typeface="MS Mincho" panose="02020609040205080304" pitchFamily="49" charset="-128"/>
              <a:cs typeface="Calibri" panose="020F0502020204030204" pitchFamily="34" charset="0"/>
            </a:endParaRPr>
          </a:p>
          <a:p>
            <a:endParaRPr lang="es-CO" dirty="0"/>
          </a:p>
        </p:txBody>
      </p:sp>
      <p:sp>
        <p:nvSpPr>
          <p:cNvPr id="6" name="1 Título">
            <a:extLst>
              <a:ext uri="{FF2B5EF4-FFF2-40B4-BE49-F238E27FC236}">
                <a16:creationId xmlns:a16="http://schemas.microsoft.com/office/drawing/2014/main" id="{4AF766A8-E91E-E7D2-0749-DD7BC23A95AA}"/>
              </a:ext>
            </a:extLst>
          </p:cNvPr>
          <p:cNvSpPr txBox="1">
            <a:spLocks/>
          </p:cNvSpPr>
          <p:nvPr/>
        </p:nvSpPr>
        <p:spPr>
          <a:xfrm>
            <a:off x="3575720" y="332656"/>
            <a:ext cx="6552728" cy="6480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00558F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3600" dirty="0">
                <a:latin typeface="Calibri" panose="020F0502020204030204" pitchFamily="34" charset="0"/>
                <a:cs typeface="Calibri" panose="020F0502020204030204" pitchFamily="34" charset="0"/>
              </a:rPr>
              <a:t>Calendario Académico – 2026-1S</a:t>
            </a:r>
          </a:p>
        </p:txBody>
      </p:sp>
    </p:spTree>
    <p:extLst>
      <p:ext uri="{BB962C8B-B14F-4D97-AF65-F5344CB8AC3E}">
        <p14:creationId xmlns:p14="http://schemas.microsoft.com/office/powerpoint/2010/main" val="1527517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2 Marcador de contenido"/>
          <p:cNvSpPr>
            <a:spLocks noGrp="1"/>
          </p:cNvSpPr>
          <p:nvPr>
            <p:ph idx="1"/>
          </p:nvPr>
        </p:nvSpPr>
        <p:spPr>
          <a:xfrm>
            <a:off x="119336" y="1268760"/>
            <a:ext cx="12000656" cy="5256584"/>
          </a:xfr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marL="534988" indent="-352425">
              <a:lnSpc>
                <a:spcPct val="114000"/>
              </a:lnSpc>
              <a:spcBef>
                <a:spcPts val="0"/>
              </a:spcBef>
              <a:spcAft>
                <a:spcPts val="2400"/>
              </a:spcAft>
              <a:buFont typeface="Wingdings" panose="05000000000000000000" pitchFamily="2" charset="2"/>
              <a:buChar char="Ø"/>
              <a:tabLst>
                <a:tab pos="263525" algn="l"/>
              </a:tabLst>
            </a:pPr>
            <a:r>
              <a:rPr lang="es-CO" sz="2600" b="1" dirty="0" err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Quices</a:t>
            </a:r>
            <a:r>
              <a:rPr lang="es-CO" sz="26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corte 1 y 2 (Valor 20% de la nota del corte)</a:t>
            </a:r>
          </a:p>
          <a:p>
            <a:pPr marL="893763" indent="-536575" algn="just">
              <a:lnSpc>
                <a:spcPct val="114000"/>
              </a:lnSpc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Ø"/>
              <a:tabLst>
                <a:tab pos="1344613" algn="l"/>
              </a:tabLst>
            </a:pPr>
            <a:r>
              <a:rPr lang="es-CO" sz="2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 nota de </a:t>
            </a:r>
            <a:r>
              <a:rPr lang="es-CO" sz="2600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quices</a:t>
            </a:r>
            <a:r>
              <a:rPr lang="es-CO" sz="2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 los </a:t>
            </a:r>
            <a:r>
              <a:rPr lang="es-CO" sz="26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cortes 1 y 2</a:t>
            </a:r>
            <a:r>
              <a:rPr lang="es-CO" sz="2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es la presentación de un quiz presencial, individual y por escrito, que incluirá 4 o 5 preguntas abiertas o cerradas. </a:t>
            </a:r>
            <a:r>
              <a:rPr lang="es-CO" sz="26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Semana 3° </a:t>
            </a:r>
            <a:r>
              <a:rPr lang="es-CO" sz="2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 corte 1 y </a:t>
            </a:r>
            <a:r>
              <a:rPr lang="es-CO" sz="26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semana 8°</a:t>
            </a:r>
            <a:r>
              <a:rPr lang="es-CO" sz="2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del corte 2.</a:t>
            </a:r>
          </a:p>
          <a:p>
            <a:pPr marL="893763" algn="just">
              <a:lnSpc>
                <a:spcPct val="114000"/>
              </a:lnSpc>
              <a:spcBef>
                <a:spcPts val="0"/>
              </a:spcBef>
              <a:spcAft>
                <a:spcPts val="3600"/>
              </a:spcAft>
              <a:tabLst>
                <a:tab pos="809625" algn="l"/>
              </a:tabLst>
            </a:pPr>
            <a:r>
              <a:rPr lang="es-CO" sz="2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Los temas de los </a:t>
            </a:r>
            <a:r>
              <a:rPr lang="es-CO" sz="2600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quices</a:t>
            </a:r>
            <a:r>
              <a:rPr lang="es-CO" sz="2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se indican en </a:t>
            </a:r>
            <a:r>
              <a:rPr lang="es-CO" sz="2600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Avata</a:t>
            </a:r>
            <a:r>
              <a:rPr lang="es-CO" sz="2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; lea la información allí.</a:t>
            </a:r>
          </a:p>
          <a:p>
            <a:pPr marL="893763" indent="-592138" algn="just">
              <a:lnSpc>
                <a:spcPct val="114000"/>
              </a:lnSpc>
              <a:spcBef>
                <a:spcPts val="0"/>
              </a:spcBef>
              <a:spcAft>
                <a:spcPts val="2400"/>
              </a:spcAft>
              <a:buFont typeface="Wingdings" panose="05000000000000000000" pitchFamily="2" charset="2"/>
              <a:buChar char="Ø"/>
              <a:tabLst>
                <a:tab pos="263525" algn="l"/>
              </a:tabLst>
            </a:pPr>
            <a:r>
              <a:rPr lang="es-CO" sz="2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 nota de </a:t>
            </a:r>
            <a:r>
              <a:rPr lang="es-CO" sz="2600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quices</a:t>
            </a:r>
            <a:r>
              <a:rPr lang="es-CO" sz="2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del </a:t>
            </a:r>
            <a:r>
              <a:rPr lang="es-CO" sz="26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corte 3</a:t>
            </a:r>
            <a:r>
              <a:rPr lang="es-CO" sz="2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es la </a:t>
            </a:r>
            <a:r>
              <a:rPr lang="es-CO" sz="26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solución</a:t>
            </a:r>
            <a:r>
              <a:rPr lang="es-CO" sz="2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s-CO" sz="26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exposición</a:t>
            </a:r>
            <a:r>
              <a:rPr lang="es-CO" sz="2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CO" sz="26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 un problema</a:t>
            </a:r>
            <a:r>
              <a:rPr lang="es-CO" sz="2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 aplicación (presentación (PPT) y video), de acuerdo con las indicaciones dadas. </a:t>
            </a:r>
            <a:r>
              <a:rPr lang="es-CO" sz="26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Semana 12° o 13°</a:t>
            </a:r>
            <a:r>
              <a:rPr lang="es-CO" sz="2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6" name="1 Título">
            <a:extLst>
              <a:ext uri="{FF2B5EF4-FFF2-40B4-BE49-F238E27FC236}">
                <a16:creationId xmlns:a16="http://schemas.microsoft.com/office/drawing/2014/main" id="{2050FE5F-C90B-4F3A-899F-492715AB8530}"/>
              </a:ext>
            </a:extLst>
          </p:cNvPr>
          <p:cNvSpPr txBox="1">
            <a:spLocks/>
          </p:cNvSpPr>
          <p:nvPr/>
        </p:nvSpPr>
        <p:spPr>
          <a:xfrm>
            <a:off x="5123892" y="297560"/>
            <a:ext cx="1944216" cy="6480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00558F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3600" dirty="0" err="1">
                <a:latin typeface="Calibri" panose="020F0502020204030204" pitchFamily="34" charset="0"/>
                <a:cs typeface="Calibri" panose="020F0502020204030204" pitchFamily="34" charset="0"/>
              </a:rPr>
              <a:t>Quices</a:t>
            </a:r>
            <a:endParaRPr lang="es-CO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5993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2 Marcador de contenido"/>
          <p:cNvSpPr>
            <a:spLocks noGrp="1"/>
          </p:cNvSpPr>
          <p:nvPr>
            <p:ph idx="1"/>
          </p:nvPr>
        </p:nvSpPr>
        <p:spPr>
          <a:xfrm>
            <a:off x="119336" y="1268760"/>
            <a:ext cx="12000656" cy="5328592"/>
          </a:xfr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marL="539750" indent="-360363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  <a:tabLst>
                <a:tab pos="539750" algn="l"/>
              </a:tabLst>
            </a:pPr>
            <a:r>
              <a:rPr lang="es-MX" sz="26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Tareas, consultas y problemas </a:t>
            </a:r>
            <a:r>
              <a:rPr lang="es-CO" sz="26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(valor 20% de la nota de cada corte)</a:t>
            </a:r>
            <a:endParaRPr lang="es-MX" sz="2600" b="1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39750">
              <a:lnSpc>
                <a:spcPct val="113000"/>
              </a:lnSpc>
              <a:spcBef>
                <a:spcPts val="0"/>
              </a:spcBef>
              <a:spcAft>
                <a:spcPts val="1000"/>
              </a:spcAft>
              <a:tabLst>
                <a:tab pos="263525" algn="l"/>
              </a:tabLst>
            </a:pPr>
            <a:r>
              <a:rPr lang="es-CO" sz="26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Cortes 1 y 2</a:t>
            </a:r>
            <a:r>
              <a:rPr lang="es-CO" sz="2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en cada sesión se asignan ejercicios y/o problemas del libro guía o de otras fuentes; las dudas de estos son revisadas en la siguiente clase. Se hacen evaluaciones cortas a través de </a:t>
            </a:r>
            <a:r>
              <a:rPr lang="es-CO" sz="2600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Avata</a:t>
            </a:r>
            <a:r>
              <a:rPr lang="es-CO" sz="2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en el fin de semana (</a:t>
            </a:r>
            <a:r>
              <a:rPr lang="es-CO" sz="26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semana 2°, 4°, 7°, 9°, 12° y 14°</a:t>
            </a:r>
            <a:r>
              <a:rPr lang="es-CO" sz="2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). </a:t>
            </a:r>
            <a:r>
              <a:rPr lang="es-MX" sz="26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Links en Khan </a:t>
            </a:r>
            <a:r>
              <a:rPr lang="es-MX" sz="2600" b="1" dirty="0" err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Academy</a:t>
            </a:r>
            <a:r>
              <a:rPr lang="es-MX" sz="26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CO" sz="26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(valor 20% de la nota de cada corte)</a:t>
            </a:r>
          </a:p>
          <a:p>
            <a:pPr marL="539750">
              <a:lnSpc>
                <a:spcPct val="113000"/>
              </a:lnSpc>
              <a:spcBef>
                <a:spcPts val="0"/>
              </a:spcBef>
              <a:spcAft>
                <a:spcPts val="2400"/>
              </a:spcAft>
              <a:tabLst>
                <a:tab pos="263525" algn="l"/>
              </a:tabLst>
            </a:pPr>
            <a:r>
              <a:rPr lang="es-CO" sz="2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Debe registrarse en Khan </a:t>
            </a:r>
            <a:r>
              <a:rPr lang="es-CO" sz="2600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Academy</a:t>
            </a:r>
            <a:r>
              <a:rPr lang="es-CO" sz="2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siguiendo las indicaciones dadas por su profesor. Cada semana se asigna una serie de links de Khan </a:t>
            </a:r>
            <a:r>
              <a:rPr lang="es-CO" sz="2600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Academy</a:t>
            </a:r>
            <a:r>
              <a:rPr lang="es-CO" sz="2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como refuerzo de los contenidos de la semana. Trabaje los links en las fechas asignadas.</a:t>
            </a:r>
          </a:p>
        </p:txBody>
      </p:sp>
      <p:sp>
        <p:nvSpPr>
          <p:cNvPr id="6" name="1 Título">
            <a:extLst>
              <a:ext uri="{FF2B5EF4-FFF2-40B4-BE49-F238E27FC236}">
                <a16:creationId xmlns:a16="http://schemas.microsoft.com/office/drawing/2014/main" id="{2050FE5F-C90B-4F3A-899F-492715AB8530}"/>
              </a:ext>
            </a:extLst>
          </p:cNvPr>
          <p:cNvSpPr txBox="1">
            <a:spLocks/>
          </p:cNvSpPr>
          <p:nvPr/>
        </p:nvSpPr>
        <p:spPr>
          <a:xfrm>
            <a:off x="3431704" y="260648"/>
            <a:ext cx="6768752" cy="6480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00558F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3600" dirty="0">
                <a:latin typeface="Calibri" panose="020F0502020204030204" pitchFamily="34" charset="0"/>
                <a:cs typeface="Calibri" panose="020F0502020204030204" pitchFamily="34" charset="0"/>
              </a:rPr>
              <a:t>Tareas – Trabajos – Khan </a:t>
            </a:r>
            <a:r>
              <a:rPr lang="es-CO" sz="3600" dirty="0" err="1">
                <a:latin typeface="Calibri" panose="020F0502020204030204" pitchFamily="34" charset="0"/>
                <a:cs typeface="Calibri" panose="020F0502020204030204" pitchFamily="34" charset="0"/>
              </a:rPr>
              <a:t>Academy</a:t>
            </a:r>
            <a:endParaRPr lang="es-CO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3856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2 Marcador de contenido"/>
          <p:cNvSpPr>
            <a:spLocks noGrp="1"/>
          </p:cNvSpPr>
          <p:nvPr>
            <p:ph idx="1"/>
          </p:nvPr>
        </p:nvSpPr>
        <p:spPr>
          <a:xfrm>
            <a:off x="119336" y="1268760"/>
            <a:ext cx="12000656" cy="5400600"/>
          </a:xfr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marL="92075">
              <a:lnSpc>
                <a:spcPts val="3800"/>
              </a:lnSpc>
              <a:spcAft>
                <a:spcPts val="1800"/>
              </a:spcAft>
            </a:pPr>
            <a:r>
              <a:rPr lang="es-CO" sz="2800" b="1" dirty="0">
                <a:solidFill>
                  <a:srgbClr val="C00000"/>
                </a:solidFill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Evaluación parcial</a:t>
            </a:r>
            <a:r>
              <a:rPr lang="es-CO" sz="28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CO" sz="28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(valor</a:t>
            </a:r>
            <a:r>
              <a:rPr lang="es-CO" sz="28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CO" sz="28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40%</a:t>
            </a:r>
            <a:r>
              <a:rPr lang="es-CO" sz="28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CO" sz="28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 la nota del corte)</a:t>
            </a:r>
            <a:r>
              <a:rPr lang="es-CO" sz="28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lvl="0" algn="just">
              <a:lnSpc>
                <a:spcPct val="114000"/>
              </a:lnSpc>
              <a:spcAft>
                <a:spcPts val="1800"/>
              </a:spcAft>
            </a:pPr>
            <a:r>
              <a:rPr lang="es-CO" sz="2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 </a:t>
            </a:r>
            <a:r>
              <a:rPr lang="es-CO" sz="26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parcial de los cortes 1 y 2</a:t>
            </a:r>
            <a:r>
              <a:rPr lang="es-CO" sz="26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CO" sz="26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</a:t>
            </a:r>
            <a:r>
              <a:rPr lang="es-CO" sz="26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CO" sz="26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presencial</a:t>
            </a:r>
            <a:r>
              <a:rPr lang="es-CO" sz="26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CO" sz="2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(en la universidad), </a:t>
            </a:r>
            <a:r>
              <a:rPr lang="es-CO" sz="26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individual</a:t>
            </a:r>
            <a:r>
              <a:rPr lang="es-CO" sz="2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s-CO" sz="26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por</a:t>
            </a:r>
            <a:r>
              <a:rPr lang="es-CO" sz="26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CO" sz="26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escrito</a:t>
            </a:r>
            <a:r>
              <a:rPr lang="es-CO" sz="2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; incluye 10 o 12 preguntas de opción única o múltiple, de verdadero o falso, de completar. Los </a:t>
            </a:r>
            <a:r>
              <a:rPr lang="es-CO" sz="26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procesos deben entregarse</a:t>
            </a:r>
            <a:r>
              <a:rPr lang="es-CO" sz="26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CO" sz="2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como soporte de las respuestas dadas.</a:t>
            </a:r>
          </a:p>
          <a:p>
            <a:pPr lvl="0" algn="just">
              <a:lnSpc>
                <a:spcPct val="114000"/>
              </a:lnSpc>
              <a:spcAft>
                <a:spcPts val="1800"/>
              </a:spcAft>
            </a:pPr>
            <a:r>
              <a:rPr lang="es-CO" sz="2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 </a:t>
            </a:r>
            <a:r>
              <a:rPr lang="es-CO" sz="26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examen final del corte 3 </a:t>
            </a:r>
            <a:r>
              <a:rPr lang="es-CO" sz="2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 </a:t>
            </a:r>
            <a:r>
              <a:rPr lang="es-CO" sz="26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presencial</a:t>
            </a:r>
            <a:r>
              <a:rPr lang="es-CO" sz="2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(en la universidad), </a:t>
            </a:r>
            <a:r>
              <a:rPr lang="es-CO" sz="26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individual</a:t>
            </a:r>
            <a:r>
              <a:rPr lang="es-CO" sz="2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y en línea en la plataforma </a:t>
            </a:r>
            <a:r>
              <a:rPr lang="es-CO" sz="2600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Avata</a:t>
            </a:r>
            <a:r>
              <a:rPr lang="es-CO" sz="2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; incluye preguntas cerradas, de emparejamiento, respuesta corta o tipo ensayo, en el link que se le indique en </a:t>
            </a:r>
            <a:r>
              <a:rPr lang="es-CO" sz="2600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Avata</a:t>
            </a:r>
            <a:r>
              <a:rPr lang="es-CO" sz="2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Los </a:t>
            </a:r>
            <a:r>
              <a:rPr lang="es-CO" sz="26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procesos deben entregarse</a:t>
            </a:r>
            <a:r>
              <a:rPr lang="es-CO" sz="26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CO" sz="2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como soporte de las respuestas dadas.</a:t>
            </a:r>
          </a:p>
          <a:p>
            <a:pPr marL="92075">
              <a:lnSpc>
                <a:spcPts val="3800"/>
              </a:lnSpc>
              <a:spcAft>
                <a:spcPts val="600"/>
              </a:spcAft>
            </a:pPr>
            <a:r>
              <a:rPr lang="es-CO" sz="26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Cualquier cambio en la modalidad de los parciales o del examen se informará.</a:t>
            </a:r>
            <a:endParaRPr lang="es-CO" sz="26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1 Título">
            <a:extLst>
              <a:ext uri="{FF2B5EF4-FFF2-40B4-BE49-F238E27FC236}">
                <a16:creationId xmlns:a16="http://schemas.microsoft.com/office/drawing/2014/main" id="{231BF20B-46B6-98FB-AAFE-5A8EB2970AB9}"/>
              </a:ext>
            </a:extLst>
          </p:cNvPr>
          <p:cNvSpPr txBox="1">
            <a:spLocks/>
          </p:cNvSpPr>
          <p:nvPr/>
        </p:nvSpPr>
        <p:spPr>
          <a:xfrm>
            <a:off x="4295800" y="260648"/>
            <a:ext cx="5040560" cy="57606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00558F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3600" dirty="0">
                <a:latin typeface="Calibri" panose="020F0502020204030204" pitchFamily="34" charset="0"/>
                <a:cs typeface="Calibri" panose="020F0502020204030204" pitchFamily="34" charset="0"/>
              </a:rPr>
              <a:t>Parciales – Examen Final</a:t>
            </a:r>
          </a:p>
        </p:txBody>
      </p:sp>
    </p:spTree>
    <p:extLst>
      <p:ext uri="{BB962C8B-B14F-4D97-AF65-F5344CB8AC3E}">
        <p14:creationId xmlns:p14="http://schemas.microsoft.com/office/powerpoint/2010/main" val="3903462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2 Marcador de contenido"/>
          <p:cNvSpPr>
            <a:spLocks noGrp="1"/>
          </p:cNvSpPr>
          <p:nvPr>
            <p:ph idx="1"/>
          </p:nvPr>
        </p:nvSpPr>
        <p:spPr>
          <a:xfrm>
            <a:off x="119336" y="1268760"/>
            <a:ext cx="11953328" cy="5400600"/>
          </a:xfr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marL="92075">
              <a:lnSpc>
                <a:spcPts val="3400"/>
              </a:lnSpc>
              <a:spcAft>
                <a:spcPts val="600"/>
              </a:spcAft>
            </a:pPr>
            <a:r>
              <a:rPr lang="es-CO" sz="26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Fechas de los parciales y del examen final</a:t>
            </a:r>
            <a:r>
              <a:rPr lang="es-CO" sz="26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806450" indent="-273050">
              <a:lnSpc>
                <a:spcPts val="34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O" sz="26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Primer parcial</a:t>
            </a:r>
            <a:r>
              <a:rPr lang="es-CO" sz="26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s-ES_tradnl" sz="26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17 de febrero</a:t>
            </a:r>
            <a:r>
              <a:rPr lang="es-CO" sz="2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Se evalúan los contenidos del primer corte.</a:t>
            </a:r>
            <a:endParaRPr lang="es-CO" sz="2600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6450" indent="-273050">
              <a:lnSpc>
                <a:spcPts val="34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O" sz="26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Segundo parcial</a:t>
            </a:r>
            <a:r>
              <a:rPr lang="es-CO" sz="26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s-CO" sz="26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17 marzo</a:t>
            </a:r>
            <a:r>
              <a:rPr lang="es-CO" sz="2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Se evalúan los contenidos del segundo corte.</a:t>
            </a:r>
          </a:p>
          <a:p>
            <a:pPr marL="806450" indent="-273050">
              <a:lnSpc>
                <a:spcPts val="34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s-CO" sz="26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Examen Final: martes 12 de mayo</a:t>
            </a:r>
            <a:r>
              <a:rPr lang="es-CO" sz="2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Los temas que se evalúan en este examen final, se encuentran en </a:t>
            </a:r>
            <a:r>
              <a:rPr lang="es-CO" sz="2600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Avata</a:t>
            </a:r>
            <a:r>
              <a:rPr lang="es-CO" sz="2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00, pestaña “Examen Final”.</a:t>
            </a:r>
          </a:p>
          <a:p>
            <a:pPr marL="549275" indent="-4572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s-CO" sz="2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 nota definitiva del corte y del curso se dará en la hora de clase del día jueves</a:t>
            </a:r>
            <a:r>
              <a:rPr lang="es-CO" sz="26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15 </a:t>
            </a:r>
            <a:r>
              <a:rPr lang="es-CO" sz="2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s-CO" sz="26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CO" sz="2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Cierre de semestre.</a:t>
            </a:r>
          </a:p>
        </p:txBody>
      </p:sp>
      <p:sp>
        <p:nvSpPr>
          <p:cNvPr id="4" name="1 Título">
            <a:extLst>
              <a:ext uri="{FF2B5EF4-FFF2-40B4-BE49-F238E27FC236}">
                <a16:creationId xmlns:a16="http://schemas.microsoft.com/office/drawing/2014/main" id="{2050FE5F-C90B-4F3A-899F-492715AB8530}"/>
              </a:ext>
            </a:extLst>
          </p:cNvPr>
          <p:cNvSpPr txBox="1">
            <a:spLocks/>
          </p:cNvSpPr>
          <p:nvPr/>
        </p:nvSpPr>
        <p:spPr>
          <a:xfrm>
            <a:off x="4295800" y="260648"/>
            <a:ext cx="5040560" cy="57606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00558F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3600" dirty="0">
                <a:latin typeface="Calibri" panose="020F0502020204030204" pitchFamily="34" charset="0"/>
                <a:cs typeface="Calibri" panose="020F0502020204030204" pitchFamily="34" charset="0"/>
              </a:rPr>
              <a:t>Parciales – Examen Final</a:t>
            </a:r>
          </a:p>
        </p:txBody>
      </p:sp>
    </p:spTree>
    <p:extLst>
      <p:ext uri="{BB962C8B-B14F-4D97-AF65-F5344CB8AC3E}">
        <p14:creationId xmlns:p14="http://schemas.microsoft.com/office/powerpoint/2010/main" val="1060742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PVERSION" val="5"/>
  <p:tag name="TPFULLVERSION" val="5.3.1.3337"/>
  <p:tag name="PPTVERSION" val="14"/>
  <p:tag name="TPOS" val="2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lásico de Office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13037</TotalTime>
  <Words>1354</Words>
  <Application>Microsoft Office PowerPoint</Application>
  <PresentationFormat>Panorámica</PresentationFormat>
  <Paragraphs>118</Paragraphs>
  <Slides>16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Calibri</vt:lpstr>
      <vt:lpstr>Wingdings</vt:lpstr>
      <vt:lpstr>Tema de Office</vt:lpstr>
      <vt:lpstr>Facultad de Ciencias Naturales e Ingeniería Área Académica de Ciencias Básicas y Modelado</vt:lpstr>
      <vt:lpstr>Contenidos a Desarrollar en el Curso</vt:lpstr>
      <vt:lpstr>Desarrollo de las clases</vt:lpstr>
      <vt:lpstr>Presentación de PowerPoint</vt:lpstr>
      <vt:lpstr>Objetivos </vt:lpstr>
      <vt:lpstr>Contenidos corte 1</vt:lpstr>
      <vt:lpstr>Contenidos corte 2</vt:lpstr>
      <vt:lpstr>Contenidos corte 3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Adelina Ocaña Gómez</dc:creator>
  <cp:lastModifiedBy>Judith Florez</cp:lastModifiedBy>
  <cp:revision>256</cp:revision>
  <dcterms:created xsi:type="dcterms:W3CDTF">2014-07-25T14:24:05Z</dcterms:created>
  <dcterms:modified xsi:type="dcterms:W3CDTF">2026-01-20T23:14:05Z</dcterms:modified>
</cp:coreProperties>
</file>